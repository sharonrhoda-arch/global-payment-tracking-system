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927" y="2444341"/>
            <a:ext cx="9991724" cy="2285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6270" y="3557902"/>
            <a:ext cx="7267574" cy="18097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787" y="5371021"/>
            <a:ext cx="9734549" cy="283844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95053" y="6028585"/>
            <a:ext cx="7372349" cy="3619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7077" y="376022"/>
            <a:ext cx="14104619" cy="875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653" y="278280"/>
            <a:ext cx="10066261" cy="1560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9915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91600" y="0"/>
              <a:ext cx="9296399" cy="382904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45189" y="4110320"/>
            <a:ext cx="8689340" cy="1267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150" spc="-150">
                <a:solidFill>
                  <a:srgbClr val="6B7989"/>
                </a:solidFill>
              </a:rPr>
              <a:t>Global</a:t>
            </a:r>
            <a:r>
              <a:rPr dirty="0" sz="8150" spc="-360">
                <a:solidFill>
                  <a:srgbClr val="6B7989"/>
                </a:solidFill>
              </a:rPr>
              <a:t> </a:t>
            </a:r>
            <a:r>
              <a:rPr dirty="0" sz="8150" spc="-150">
                <a:solidFill>
                  <a:srgbClr val="6B7989"/>
                </a:solidFill>
              </a:rPr>
              <a:t>Payments</a:t>
            </a:r>
            <a:endParaRPr sz="8150"/>
          </a:p>
        </p:txBody>
      </p:sp>
      <p:sp>
        <p:nvSpPr>
          <p:cNvPr id="6" name="object 6" descr=""/>
          <p:cNvSpPr txBox="1"/>
          <p:nvPr/>
        </p:nvSpPr>
        <p:spPr>
          <a:xfrm>
            <a:off x="9467020" y="5577121"/>
            <a:ext cx="8157209" cy="441642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5550" spc="-10" b="1">
                <a:solidFill>
                  <a:srgbClr val="2E4057"/>
                </a:solidFill>
                <a:latin typeface="Georgia"/>
                <a:cs typeface="Georgia"/>
              </a:rPr>
              <a:t>TRANSACTIONS</a:t>
            </a:r>
            <a:r>
              <a:rPr dirty="0" sz="5550" spc="-340" b="1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5550" spc="-25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endParaRPr sz="5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6600" spc="-20" b="1">
                <a:solidFill>
                  <a:srgbClr val="6B7989"/>
                </a:solidFill>
                <a:latin typeface="Arial"/>
                <a:cs typeface="Arial"/>
              </a:rPr>
              <a:t>Tracking</a:t>
            </a:r>
            <a:r>
              <a:rPr dirty="0" sz="6600" spc="-415" b="1">
                <a:solidFill>
                  <a:srgbClr val="6B7989"/>
                </a:solidFill>
                <a:latin typeface="Arial"/>
                <a:cs typeface="Arial"/>
              </a:rPr>
              <a:t> </a:t>
            </a:r>
            <a:r>
              <a:rPr dirty="0" sz="6600" spc="35" b="1">
                <a:solidFill>
                  <a:srgbClr val="6B7989"/>
                </a:solidFill>
                <a:latin typeface="Arial"/>
                <a:cs typeface="Arial"/>
              </a:rPr>
              <a:t>Dashboard</a:t>
            </a:r>
            <a:endParaRPr sz="6600">
              <a:latin typeface="Arial"/>
              <a:cs typeface="Arial"/>
            </a:endParaRPr>
          </a:p>
          <a:p>
            <a:pPr marL="148590">
              <a:lnSpc>
                <a:spcPct val="100000"/>
              </a:lnSpc>
              <a:spcBef>
                <a:spcPts val="5585"/>
              </a:spcBef>
            </a:pPr>
            <a:r>
              <a:rPr dirty="0" sz="2600" spc="-170" b="1">
                <a:solidFill>
                  <a:srgbClr val="6B7989"/>
                </a:solidFill>
                <a:latin typeface="Arial"/>
                <a:cs typeface="Arial"/>
              </a:rPr>
              <a:t>PRESENTED</a:t>
            </a:r>
            <a:r>
              <a:rPr dirty="0" sz="2600" spc="-95" b="1">
                <a:solidFill>
                  <a:srgbClr val="6B7989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6B7989"/>
                </a:solidFill>
                <a:latin typeface="Arial"/>
                <a:cs typeface="Arial"/>
              </a:rPr>
              <a:t>BY</a:t>
            </a:r>
            <a:endParaRPr sz="2600">
              <a:latin typeface="Arial"/>
              <a:cs typeface="Arial"/>
            </a:endParaRPr>
          </a:p>
          <a:p>
            <a:pPr marL="148590" marR="5669915">
              <a:lnSpc>
                <a:spcPct val="116399"/>
              </a:lnSpc>
              <a:spcBef>
                <a:spcPts val="645"/>
              </a:spcBef>
            </a:pPr>
            <a:r>
              <a:rPr dirty="0" sz="2900">
                <a:solidFill>
                  <a:srgbClr val="2E4057"/>
                </a:solidFill>
                <a:latin typeface="Georgia"/>
                <a:cs typeface="Georgia"/>
              </a:rPr>
              <a:t>Sharon</a:t>
            </a:r>
            <a:r>
              <a:rPr dirty="0" sz="2900" spc="-4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2900" spc="-20">
                <a:solidFill>
                  <a:srgbClr val="2E4057"/>
                </a:solidFill>
                <a:latin typeface="Georgia"/>
                <a:cs typeface="Georgia"/>
              </a:rPr>
              <a:t>Rhoda </a:t>
            </a:r>
            <a:r>
              <a:rPr dirty="0" sz="2900" spc="-10">
                <a:solidFill>
                  <a:srgbClr val="2E4057"/>
                </a:solidFill>
                <a:latin typeface="Georgia"/>
                <a:cs typeface="Georgia"/>
              </a:rPr>
              <a:t>2520040001</a:t>
            </a:r>
            <a:endParaRPr sz="2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14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dirty="0" sz="8000" spc="-10">
                <a:solidFill>
                  <a:srgbClr val="2E4057"/>
                </a:solidFill>
              </a:rPr>
              <a:t>Abstract</a:t>
            </a:r>
            <a:endParaRPr sz="8000"/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2128131"/>
            <a:ext cx="9542145" cy="756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Global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75">
                <a:solidFill>
                  <a:srgbClr val="6B7989"/>
                </a:solidFill>
                <a:latin typeface="Verdana"/>
                <a:cs typeface="Verdana"/>
              </a:rPr>
              <a:t>payment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transactions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involve </a:t>
            </a:r>
            <a:r>
              <a:rPr dirty="0" sz="3550" spc="-20">
                <a:solidFill>
                  <a:srgbClr val="6B7989"/>
                </a:solidFill>
                <a:latin typeface="Verdana"/>
                <a:cs typeface="Verdana"/>
              </a:rPr>
              <a:t>multiple</a:t>
            </a:r>
            <a:r>
              <a:rPr dirty="0" sz="3550" spc="-30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50">
                <a:solidFill>
                  <a:srgbClr val="6B7989"/>
                </a:solidFill>
                <a:latin typeface="Verdana"/>
                <a:cs typeface="Verdana"/>
              </a:rPr>
              <a:t>stages,</a:t>
            </a:r>
            <a:r>
              <a:rPr dirty="0" sz="3550" spc="-29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intermediaries,</a:t>
            </a:r>
            <a:r>
              <a:rPr dirty="0" sz="3550" spc="-29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and </a:t>
            </a:r>
            <a:r>
              <a:rPr dirty="0" sz="3550" spc="-70">
                <a:solidFill>
                  <a:srgbClr val="6B7989"/>
                </a:solidFill>
                <a:latin typeface="Verdana"/>
                <a:cs typeface="Verdana"/>
              </a:rPr>
              <a:t>geographical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25">
                <a:solidFill>
                  <a:srgbClr val="6B7989"/>
                </a:solidFill>
                <a:latin typeface="Verdana"/>
                <a:cs typeface="Verdana"/>
              </a:rPr>
              <a:t>regions,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70">
                <a:solidFill>
                  <a:srgbClr val="6B7989"/>
                </a:solidFill>
                <a:latin typeface="Verdana"/>
                <a:cs typeface="Verdana"/>
              </a:rPr>
              <a:t>making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60">
                <a:solidFill>
                  <a:srgbClr val="6B7989"/>
                </a:solidFill>
                <a:latin typeface="Verdana"/>
                <a:cs typeface="Verdana"/>
              </a:rPr>
              <a:t>them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complex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and</a:t>
            </a:r>
            <a:r>
              <a:rPr dirty="0" sz="3550" spc="-27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difficult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to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10">
                <a:solidFill>
                  <a:srgbClr val="6B7989"/>
                </a:solidFill>
                <a:latin typeface="Verdana"/>
                <a:cs typeface="Verdana"/>
              </a:rPr>
              <a:t>track.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Users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often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0">
                <a:solidFill>
                  <a:srgbClr val="6B7989"/>
                </a:solidFill>
                <a:latin typeface="Verdana"/>
                <a:cs typeface="Verdana"/>
              </a:rPr>
              <a:t>face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challenges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5">
                <a:solidFill>
                  <a:srgbClr val="6B7989"/>
                </a:solidFill>
                <a:latin typeface="Verdana"/>
                <a:cs typeface="Verdana"/>
              </a:rPr>
              <a:t>in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60">
                <a:solidFill>
                  <a:srgbClr val="6B7989"/>
                </a:solidFill>
                <a:latin typeface="Verdana"/>
                <a:cs typeface="Verdana"/>
              </a:rPr>
              <a:t>understanding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0">
                <a:solidFill>
                  <a:srgbClr val="6B7989"/>
                </a:solidFill>
                <a:latin typeface="Verdana"/>
                <a:cs typeface="Verdana"/>
              </a:rPr>
              <a:t>the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current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status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75">
                <a:solidFill>
                  <a:srgbClr val="6B7989"/>
                </a:solidFill>
                <a:latin typeface="Verdana"/>
                <a:cs typeface="Verdana"/>
              </a:rPr>
              <a:t>of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55">
                <a:solidFill>
                  <a:srgbClr val="6B7989"/>
                </a:solidFill>
                <a:latin typeface="Verdana"/>
                <a:cs typeface="Verdana"/>
              </a:rPr>
              <a:t>a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0">
                <a:solidFill>
                  <a:srgbClr val="6B7989"/>
                </a:solidFill>
                <a:latin typeface="Verdana"/>
                <a:cs typeface="Verdana"/>
              </a:rPr>
              <a:t>payment,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identifying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5">
                <a:solidFill>
                  <a:srgbClr val="6B7989"/>
                </a:solidFill>
                <a:latin typeface="Verdana"/>
                <a:cs typeface="Verdana"/>
              </a:rPr>
              <a:t>delays,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or </a:t>
            </a:r>
            <a:r>
              <a:rPr dirty="0" sz="3550" spc="-120">
                <a:solidFill>
                  <a:srgbClr val="6B7989"/>
                </a:solidFill>
                <a:latin typeface="Verdana"/>
                <a:cs typeface="Verdana"/>
              </a:rPr>
              <a:t>knowing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0">
                <a:solidFill>
                  <a:srgbClr val="6B7989"/>
                </a:solidFill>
                <a:latin typeface="Verdana"/>
                <a:cs typeface="Verdana"/>
              </a:rPr>
              <a:t>the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75">
                <a:solidFill>
                  <a:srgbClr val="6B7989"/>
                </a:solidFill>
                <a:latin typeface="Verdana"/>
                <a:cs typeface="Verdana"/>
              </a:rPr>
              <a:t>reasons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0">
                <a:solidFill>
                  <a:srgbClr val="6B7989"/>
                </a:solidFill>
                <a:latin typeface="Verdana"/>
                <a:cs typeface="Verdana"/>
              </a:rPr>
              <a:t>behind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transaction </a:t>
            </a:r>
            <a:r>
              <a:rPr dirty="0" sz="3550" spc="-90">
                <a:solidFill>
                  <a:srgbClr val="6B7989"/>
                </a:solidFill>
                <a:latin typeface="Verdana"/>
                <a:cs typeface="Verdana"/>
              </a:rPr>
              <a:t>failures.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The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0">
                <a:solidFill>
                  <a:srgbClr val="6B7989"/>
                </a:solidFill>
                <a:latin typeface="Verdana"/>
                <a:cs typeface="Verdana"/>
              </a:rPr>
              <a:t>lack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75">
                <a:solidFill>
                  <a:srgbClr val="6B7989"/>
                </a:solidFill>
                <a:latin typeface="Verdana"/>
                <a:cs typeface="Verdana"/>
              </a:rPr>
              <a:t>of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transparency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in </a:t>
            </a:r>
            <a:r>
              <a:rPr dirty="0" sz="3550" spc="-45">
                <a:solidFill>
                  <a:srgbClr val="6B7989"/>
                </a:solidFill>
                <a:latin typeface="Verdana"/>
                <a:cs typeface="Verdana"/>
              </a:rPr>
              <a:t>international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75">
                <a:solidFill>
                  <a:srgbClr val="6B7989"/>
                </a:solidFill>
                <a:latin typeface="Verdana"/>
                <a:cs typeface="Verdana"/>
              </a:rPr>
              <a:t>payment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flows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5">
                <a:solidFill>
                  <a:srgbClr val="6B7989"/>
                </a:solidFill>
                <a:latin typeface="Verdana"/>
                <a:cs typeface="Verdana"/>
              </a:rPr>
              <a:t>can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0">
                <a:solidFill>
                  <a:srgbClr val="6B7989"/>
                </a:solidFill>
                <a:latin typeface="Verdana"/>
                <a:cs typeface="Verdana"/>
              </a:rPr>
              <a:t>lead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to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confusion,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reduced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65">
                <a:solidFill>
                  <a:srgbClr val="6B7989"/>
                </a:solidFill>
                <a:latin typeface="Verdana"/>
                <a:cs typeface="Verdana"/>
              </a:rPr>
              <a:t>trust,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and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inefficiencies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for</a:t>
            </a:r>
            <a:r>
              <a:rPr dirty="0" sz="3550" spc="-29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individuals</a:t>
            </a:r>
            <a:r>
              <a:rPr dirty="0" sz="3550" spc="-29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and</a:t>
            </a:r>
            <a:r>
              <a:rPr dirty="0" sz="3550" spc="-29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organizations</a:t>
            </a:r>
            <a:r>
              <a:rPr dirty="0" sz="3550" spc="-29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involved </a:t>
            </a:r>
            <a:r>
              <a:rPr dirty="0" sz="3550" spc="-45">
                <a:solidFill>
                  <a:srgbClr val="6B7989"/>
                </a:solidFill>
                <a:latin typeface="Verdana"/>
                <a:cs typeface="Verdana"/>
              </a:rPr>
              <a:t>in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cross-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border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transactions</a:t>
            </a:r>
            <a:endParaRPr sz="3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14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dirty="0" sz="8000">
                <a:solidFill>
                  <a:srgbClr val="2E4057"/>
                </a:solidFill>
              </a:rPr>
              <a:t>Proposed</a:t>
            </a:r>
            <a:r>
              <a:rPr dirty="0" sz="8000" spc="-185">
                <a:solidFill>
                  <a:srgbClr val="2E4057"/>
                </a:solidFill>
              </a:rPr>
              <a:t> </a:t>
            </a:r>
            <a:r>
              <a:rPr dirty="0" sz="8000" spc="-10">
                <a:solidFill>
                  <a:srgbClr val="2E4057"/>
                </a:solidFill>
              </a:rPr>
              <a:t>Solution</a:t>
            </a:r>
            <a:endParaRPr sz="8000"/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1963901"/>
            <a:ext cx="9918065" cy="795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</a:pP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Global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45">
                <a:solidFill>
                  <a:srgbClr val="2E4057"/>
                </a:solidFill>
                <a:latin typeface="Arial MT"/>
                <a:cs typeface="Arial MT"/>
              </a:rPr>
              <a:t>Payment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Transactions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E4057"/>
                </a:solidFill>
                <a:latin typeface="Arial MT"/>
                <a:cs typeface="Arial MT"/>
              </a:rPr>
              <a:t>Tracking </a:t>
            </a:r>
            <a:r>
              <a:rPr dirty="0" sz="3450" spc="50">
                <a:solidFill>
                  <a:srgbClr val="2E4057"/>
                </a:solidFill>
                <a:latin typeface="Arial MT"/>
                <a:cs typeface="Arial MT"/>
              </a:rPr>
              <a:t>Dashboard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aims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215">
                <a:solidFill>
                  <a:srgbClr val="2E4057"/>
                </a:solidFill>
                <a:latin typeface="Arial MT"/>
                <a:cs typeface="Arial MT"/>
              </a:rPr>
              <a:t>to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address</a:t>
            </a:r>
            <a:r>
              <a:rPr dirty="0" sz="3450" spc="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14">
                <a:solidFill>
                  <a:srgbClr val="2E4057"/>
                </a:solidFill>
                <a:latin typeface="Arial MT"/>
                <a:cs typeface="Arial MT"/>
              </a:rPr>
              <a:t>this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issue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20">
                <a:solidFill>
                  <a:srgbClr val="2E4057"/>
                </a:solidFill>
                <a:latin typeface="Arial MT"/>
                <a:cs typeface="Arial MT"/>
              </a:rPr>
              <a:t>by 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providing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centralized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55">
                <a:solidFill>
                  <a:srgbClr val="2E4057"/>
                </a:solidFill>
                <a:latin typeface="Arial MT"/>
                <a:cs typeface="Arial MT"/>
              </a:rPr>
              <a:t>user-</a:t>
            </a:r>
            <a:r>
              <a:rPr dirty="0" sz="3450" spc="95">
                <a:solidFill>
                  <a:srgbClr val="2E4057"/>
                </a:solidFill>
                <a:latin typeface="Arial MT"/>
                <a:cs typeface="Arial MT"/>
              </a:rPr>
              <a:t>friendly interface</a:t>
            </a:r>
            <a:r>
              <a:rPr dirty="0" sz="3450" spc="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70">
                <a:solidFill>
                  <a:srgbClr val="2E4057"/>
                </a:solidFill>
                <a:latin typeface="Arial MT"/>
                <a:cs typeface="Arial MT"/>
              </a:rPr>
              <a:t>that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visually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75">
                <a:solidFill>
                  <a:srgbClr val="2E4057"/>
                </a:solidFill>
                <a:latin typeface="Arial MT"/>
                <a:cs typeface="Arial MT"/>
              </a:rPr>
              <a:t>represents</a:t>
            </a:r>
            <a:r>
              <a:rPr dirty="0" sz="3450" spc="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75">
                <a:solidFill>
                  <a:srgbClr val="2E4057"/>
                </a:solidFill>
                <a:latin typeface="Arial MT"/>
                <a:cs typeface="Arial MT"/>
              </a:rPr>
              <a:t>journey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20">
                <a:solidFill>
                  <a:srgbClr val="2E4057"/>
                </a:solidFill>
                <a:latin typeface="Arial MT"/>
                <a:cs typeface="Arial MT"/>
              </a:rPr>
              <a:t>of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global</a:t>
            </a:r>
            <a:r>
              <a:rPr dirty="0" sz="3450" spc="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70">
                <a:solidFill>
                  <a:srgbClr val="2E4057"/>
                </a:solidFill>
                <a:latin typeface="Arial MT"/>
                <a:cs typeface="Arial MT"/>
              </a:rPr>
              <a:t>payments.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dashboard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0">
                <a:solidFill>
                  <a:srgbClr val="2E4057"/>
                </a:solidFill>
                <a:latin typeface="Arial MT"/>
                <a:cs typeface="Arial MT"/>
              </a:rPr>
              <a:t>displays </a:t>
            </a:r>
            <a:r>
              <a:rPr dirty="0" sz="3450" spc="105">
                <a:solidFill>
                  <a:srgbClr val="2E4057"/>
                </a:solidFill>
                <a:latin typeface="Arial MT"/>
                <a:cs typeface="Arial MT"/>
              </a:rPr>
              <a:t>transaction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status,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movement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across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0">
                <a:solidFill>
                  <a:srgbClr val="2E4057"/>
                </a:solidFill>
                <a:latin typeface="Arial MT"/>
                <a:cs typeface="Arial MT"/>
              </a:rPr>
              <a:t>countries,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currency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flow,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95">
                <a:solidFill>
                  <a:srgbClr val="2E4057"/>
                </a:solidFill>
                <a:latin typeface="Arial MT"/>
                <a:cs typeface="Arial MT"/>
              </a:rPr>
              <a:t>summary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insights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in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35">
                <a:solidFill>
                  <a:srgbClr val="2E4057"/>
                </a:solidFill>
                <a:latin typeface="Arial MT"/>
                <a:cs typeface="Arial MT"/>
              </a:rPr>
              <a:t>clear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30">
                <a:solidFill>
                  <a:srgbClr val="2E4057"/>
                </a:solidFill>
                <a:latin typeface="Arial MT"/>
                <a:cs typeface="Arial MT"/>
              </a:rPr>
              <a:t>structured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manner.</a:t>
            </a:r>
            <a:r>
              <a:rPr dirty="0" sz="3450" spc="-4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By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transforming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90">
                <a:solidFill>
                  <a:srgbClr val="2E4057"/>
                </a:solidFill>
                <a:latin typeface="Arial MT"/>
                <a:cs typeface="Arial MT"/>
              </a:rPr>
              <a:t>complex </a:t>
            </a:r>
            <a:r>
              <a:rPr dirty="0" sz="3450" spc="140">
                <a:solidFill>
                  <a:srgbClr val="2E4057"/>
                </a:solidFill>
                <a:latin typeface="Arial MT"/>
                <a:cs typeface="Arial MT"/>
              </a:rPr>
              <a:t>payment</a:t>
            </a:r>
            <a:r>
              <a:rPr dirty="0" sz="3450" spc="-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data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35">
                <a:solidFill>
                  <a:srgbClr val="2E4057"/>
                </a:solidFill>
                <a:latin typeface="Arial MT"/>
                <a:cs typeface="Arial MT"/>
              </a:rPr>
              <a:t>into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easy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345">
                <a:solidFill>
                  <a:srgbClr val="2E4057"/>
                </a:solidFill>
                <a:latin typeface="Arial MT"/>
                <a:cs typeface="Arial MT"/>
              </a:rPr>
              <a:t>to-</a:t>
            </a:r>
            <a:r>
              <a:rPr dirty="0" sz="3450" spc="100">
                <a:solidFill>
                  <a:srgbClr val="2E4057"/>
                </a:solidFill>
                <a:latin typeface="Arial MT"/>
                <a:cs typeface="Arial MT"/>
              </a:rPr>
              <a:t>understand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E4057"/>
                </a:solidFill>
                <a:latin typeface="Arial MT"/>
                <a:cs typeface="Arial MT"/>
              </a:rPr>
              <a:t>visual 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information,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45">
                <a:solidFill>
                  <a:srgbClr val="2E4057"/>
                </a:solidFill>
                <a:latin typeface="Arial MT"/>
                <a:cs typeface="Arial MT"/>
              </a:rPr>
              <a:t>project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45">
                <a:solidFill>
                  <a:srgbClr val="2E4057"/>
                </a:solidFill>
                <a:latin typeface="Arial MT"/>
                <a:cs typeface="Arial MT"/>
              </a:rPr>
              <a:t>enhances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35">
                <a:solidFill>
                  <a:srgbClr val="2E4057"/>
                </a:solidFill>
                <a:latin typeface="Arial MT"/>
                <a:cs typeface="Arial MT"/>
              </a:rPr>
              <a:t>transparency, 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improves</a:t>
            </a:r>
            <a:r>
              <a:rPr dirty="0" sz="3450" spc="-3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user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25">
                <a:solidFill>
                  <a:srgbClr val="2E4057"/>
                </a:solidFill>
                <a:latin typeface="Arial MT"/>
                <a:cs typeface="Arial MT"/>
              </a:rPr>
              <a:t>awareness,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serves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as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25">
                <a:solidFill>
                  <a:srgbClr val="2E4057"/>
                </a:solidFill>
                <a:latin typeface="Arial MT"/>
                <a:cs typeface="Arial MT"/>
              </a:rPr>
              <a:t>an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effective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35">
                <a:solidFill>
                  <a:srgbClr val="2E4057"/>
                </a:solidFill>
                <a:latin typeface="Arial MT"/>
                <a:cs typeface="Arial MT"/>
              </a:rPr>
              <a:t>tool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05">
                <a:solidFill>
                  <a:srgbClr val="2E4057"/>
                </a:solidFill>
                <a:latin typeface="Arial MT"/>
                <a:cs typeface="Arial MT"/>
              </a:rPr>
              <a:t>for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learning,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monitoring,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and </a:t>
            </a:r>
            <a:r>
              <a:rPr dirty="0" sz="3450" spc="105">
                <a:solidFill>
                  <a:srgbClr val="2E4057"/>
                </a:solidFill>
                <a:latin typeface="Arial MT"/>
                <a:cs typeface="Arial MT"/>
              </a:rPr>
              <a:t>demonstrating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global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40">
                <a:solidFill>
                  <a:srgbClr val="2E4057"/>
                </a:solidFill>
                <a:latin typeface="Arial MT"/>
                <a:cs typeface="Arial MT"/>
              </a:rPr>
              <a:t>payment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E4057"/>
                </a:solidFill>
                <a:latin typeface="Arial MT"/>
                <a:cs typeface="Arial MT"/>
              </a:rPr>
              <a:t>processes.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50">
                <a:solidFill>
                  <a:srgbClr val="2E4057"/>
                </a:solidFill>
              </a:rPr>
              <a:t>Project</a:t>
            </a:r>
            <a:r>
              <a:rPr dirty="0" sz="5550" spc="-20">
                <a:solidFill>
                  <a:srgbClr val="2E4057"/>
                </a:solidFill>
              </a:rPr>
              <a:t> </a:t>
            </a:r>
            <a:r>
              <a:rPr dirty="0" sz="5550">
                <a:solidFill>
                  <a:srgbClr val="2E4057"/>
                </a:solidFill>
              </a:rPr>
              <a:t>Modules</a:t>
            </a:r>
            <a:r>
              <a:rPr dirty="0" sz="5550" spc="-20">
                <a:solidFill>
                  <a:srgbClr val="2E4057"/>
                </a:solidFill>
              </a:rPr>
              <a:t> </a:t>
            </a:r>
            <a:r>
              <a:rPr dirty="0" sz="5550">
                <a:solidFill>
                  <a:srgbClr val="2E4057"/>
                </a:solidFill>
              </a:rPr>
              <a:t>and</a:t>
            </a:r>
            <a:r>
              <a:rPr dirty="0" sz="5550" spc="-20">
                <a:solidFill>
                  <a:srgbClr val="2E4057"/>
                </a:solidFill>
              </a:rPr>
              <a:t> </a:t>
            </a:r>
            <a:r>
              <a:rPr dirty="0" sz="5550">
                <a:solidFill>
                  <a:srgbClr val="2E4057"/>
                </a:solidFill>
              </a:rPr>
              <a:t>Course</a:t>
            </a:r>
            <a:r>
              <a:rPr dirty="0" sz="5550" spc="-15">
                <a:solidFill>
                  <a:srgbClr val="2E4057"/>
                </a:solidFill>
              </a:rPr>
              <a:t> </a:t>
            </a:r>
            <a:r>
              <a:rPr dirty="0" sz="5550" spc="-10">
                <a:solidFill>
                  <a:srgbClr val="2E4057"/>
                </a:solidFill>
              </a:rPr>
              <a:t>Outcomes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1017041" y="1735441"/>
            <a:ext cx="1071118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30">
                <a:latin typeface="Georgia"/>
                <a:cs typeface="Georgia"/>
              </a:rPr>
              <a:t>CO-</a:t>
            </a:r>
            <a:r>
              <a:rPr dirty="0" sz="2900" spc="375">
                <a:latin typeface="Georgia"/>
                <a:cs typeface="Georgia"/>
              </a:rPr>
              <a:t>1</a:t>
            </a:r>
            <a:r>
              <a:rPr dirty="0" sz="2900" spc="-40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:</a:t>
            </a:r>
            <a:r>
              <a:rPr dirty="0" sz="2900" spc="-35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Internet</a:t>
            </a:r>
            <a:r>
              <a:rPr dirty="0" sz="2900" spc="-40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Fundamentals,</a:t>
            </a:r>
            <a:r>
              <a:rPr dirty="0" sz="2900" spc="-35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HTML</a:t>
            </a:r>
            <a:r>
              <a:rPr dirty="0" sz="2900" spc="-35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&amp;</a:t>
            </a:r>
            <a:r>
              <a:rPr dirty="0" sz="2900" spc="-40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Introductory</a:t>
            </a:r>
            <a:r>
              <a:rPr dirty="0" sz="2900" spc="-35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CSS</a:t>
            </a:r>
            <a:r>
              <a:rPr dirty="0" sz="2900" spc="-35">
                <a:latin typeface="Georgia"/>
                <a:cs typeface="Georgia"/>
              </a:rPr>
              <a:t> </a:t>
            </a:r>
            <a:r>
              <a:rPr dirty="0" sz="2900" spc="-10">
                <a:latin typeface="Georgia"/>
                <a:cs typeface="Georgia"/>
              </a:rPr>
              <a:t>Styling</a:t>
            </a:r>
            <a:endParaRPr sz="2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610" y="1565092"/>
            <a:ext cx="8582024" cy="76961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76152" y="1565092"/>
            <a:ext cx="8811846" cy="13525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6152" y="3449710"/>
            <a:ext cx="8629649" cy="24479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76152" y="6437053"/>
            <a:ext cx="8696324" cy="24193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2654" y="541718"/>
            <a:ext cx="8333105" cy="4673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30" b="0">
                <a:latin typeface="Georgia"/>
                <a:cs typeface="Georgia"/>
              </a:rPr>
              <a:t>CO-</a:t>
            </a:r>
            <a:r>
              <a:rPr dirty="0" sz="2900" b="0">
                <a:latin typeface="Georgia"/>
                <a:cs typeface="Georgia"/>
              </a:rPr>
              <a:t>2:</a:t>
            </a:r>
            <a:r>
              <a:rPr dirty="0" sz="2900" spc="-40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HTML</a:t>
            </a:r>
            <a:r>
              <a:rPr dirty="0" sz="2900" spc="-3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Forms,</a:t>
            </a:r>
            <a:r>
              <a:rPr dirty="0" sz="2900" spc="-3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Semantic</a:t>
            </a:r>
            <a:r>
              <a:rPr dirty="0" sz="2900" spc="-3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Tags</a:t>
            </a:r>
            <a:r>
              <a:rPr dirty="0" sz="2900" spc="-3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&amp;</a:t>
            </a:r>
            <a:r>
              <a:rPr dirty="0" sz="2900" spc="-3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CSS</a:t>
            </a:r>
            <a:r>
              <a:rPr dirty="0" sz="2900" spc="-35" b="0">
                <a:latin typeface="Georgia"/>
                <a:cs typeface="Georgia"/>
              </a:rPr>
              <a:t> </a:t>
            </a:r>
            <a:r>
              <a:rPr dirty="0" sz="2900" spc="-10" b="0">
                <a:latin typeface="Georgia"/>
                <a:cs typeface="Georgia"/>
              </a:rPr>
              <a:t>Layouts</a:t>
            </a:r>
            <a:endParaRPr sz="29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30085" y="543020"/>
            <a:ext cx="792162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8895" algn="l"/>
              </a:tabLst>
            </a:pPr>
            <a:r>
              <a:rPr dirty="0" sz="3300" spc="-25">
                <a:latin typeface="Georgia"/>
                <a:cs typeface="Georgia"/>
              </a:rPr>
              <a:t>CO-3:</a:t>
            </a:r>
            <a:r>
              <a:rPr dirty="0" sz="3300">
                <a:latin typeface="Georgia"/>
                <a:cs typeface="Georgia"/>
              </a:rPr>
              <a:t>	JavaScript</a:t>
            </a:r>
            <a:r>
              <a:rPr dirty="0" sz="3300" spc="-120">
                <a:latin typeface="Georgia"/>
                <a:cs typeface="Georgia"/>
              </a:rPr>
              <a:t> </a:t>
            </a:r>
            <a:r>
              <a:rPr dirty="0" sz="3300">
                <a:latin typeface="Georgia"/>
                <a:cs typeface="Georgia"/>
              </a:rPr>
              <a:t>Programming</a:t>
            </a:r>
            <a:r>
              <a:rPr dirty="0" sz="3300" spc="-114">
                <a:latin typeface="Georgia"/>
                <a:cs typeface="Georgia"/>
              </a:rPr>
              <a:t> </a:t>
            </a:r>
            <a:r>
              <a:rPr dirty="0" sz="3300" spc="-10">
                <a:latin typeface="Georgia"/>
                <a:cs typeface="Georgia"/>
              </a:rPr>
              <a:t>Essentials</a:t>
            </a:r>
            <a:endParaRPr sz="33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75208"/>
            <a:ext cx="9553574" cy="1009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807098"/>
            <a:ext cx="9553574" cy="885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82" y="5657397"/>
            <a:ext cx="9324974" cy="36004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2599" y="1675208"/>
            <a:ext cx="8255400" cy="16192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32599" y="4437845"/>
            <a:ext cx="8255400" cy="18668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30121" y="408079"/>
            <a:ext cx="749427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30">
                <a:latin typeface="Georgia"/>
                <a:cs typeface="Georgia"/>
              </a:rPr>
              <a:t>CO-</a:t>
            </a:r>
            <a:r>
              <a:rPr dirty="0" sz="2900">
                <a:latin typeface="Georgia"/>
                <a:cs typeface="Georgia"/>
              </a:rPr>
              <a:t>4:</a:t>
            </a:r>
            <a:r>
              <a:rPr dirty="0" sz="2900" spc="-70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JavaScript</a:t>
            </a:r>
            <a:r>
              <a:rPr dirty="0" sz="2900" spc="-70">
                <a:latin typeface="Georgia"/>
                <a:cs typeface="Georgia"/>
              </a:rPr>
              <a:t> </a:t>
            </a:r>
            <a:r>
              <a:rPr dirty="0" sz="2900" spc="-10">
                <a:latin typeface="Georgia"/>
                <a:cs typeface="Georgia"/>
              </a:rPr>
              <a:t>Interactivity,</a:t>
            </a:r>
            <a:r>
              <a:rPr dirty="0" sz="2900" spc="-65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DOM</a:t>
            </a:r>
            <a:r>
              <a:rPr dirty="0" sz="2900" spc="-70">
                <a:latin typeface="Georgia"/>
                <a:cs typeface="Georgia"/>
              </a:rPr>
              <a:t> </a:t>
            </a:r>
            <a:r>
              <a:rPr dirty="0" sz="2900">
                <a:latin typeface="Georgia"/>
                <a:cs typeface="Georgia"/>
              </a:rPr>
              <a:t>&amp;</a:t>
            </a:r>
            <a:r>
              <a:rPr dirty="0" sz="2900" spc="-65">
                <a:latin typeface="Georgia"/>
                <a:cs typeface="Georgia"/>
              </a:rPr>
              <a:t> </a:t>
            </a:r>
            <a:r>
              <a:rPr dirty="0" sz="2900" spc="-10">
                <a:latin typeface="Georgia"/>
                <a:cs typeface="Georgia"/>
              </a:rPr>
              <a:t>Events</a:t>
            </a:r>
            <a:endParaRPr sz="29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756819" y="408079"/>
            <a:ext cx="8198484" cy="4673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30" b="0">
                <a:latin typeface="Georgia"/>
                <a:cs typeface="Georgia"/>
              </a:rPr>
              <a:t>CO-</a:t>
            </a:r>
            <a:r>
              <a:rPr dirty="0" sz="2900" b="0">
                <a:latin typeface="Georgia"/>
                <a:cs typeface="Georgia"/>
              </a:rPr>
              <a:t>5:</a:t>
            </a:r>
            <a:r>
              <a:rPr dirty="0" sz="2900" spc="-5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Advanced</a:t>
            </a:r>
            <a:r>
              <a:rPr dirty="0" sz="2900" spc="-5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Web</a:t>
            </a:r>
            <a:r>
              <a:rPr dirty="0" sz="2900" spc="-55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Development</a:t>
            </a:r>
            <a:r>
              <a:rPr dirty="0" sz="2900" spc="-50" b="0">
                <a:latin typeface="Georgia"/>
                <a:cs typeface="Georgia"/>
              </a:rPr>
              <a:t> </a:t>
            </a:r>
            <a:r>
              <a:rPr dirty="0" sz="2900" b="0">
                <a:latin typeface="Georgia"/>
                <a:cs typeface="Georgia"/>
              </a:rPr>
              <a:t>&amp;</a:t>
            </a:r>
            <a:r>
              <a:rPr dirty="0" sz="2900" spc="-55" b="0">
                <a:latin typeface="Georgia"/>
                <a:cs typeface="Georgia"/>
              </a:rPr>
              <a:t> </a:t>
            </a:r>
            <a:r>
              <a:rPr dirty="0" sz="2900" spc="-10" b="0">
                <a:latin typeface="Georgia"/>
                <a:cs typeface="Georgia"/>
              </a:rPr>
              <a:t>Deployment</a:t>
            </a:r>
            <a:endParaRPr sz="2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970727"/>
            <a:ext cx="16840199" cy="5781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6580">
              <a:lnSpc>
                <a:spcPct val="100000"/>
              </a:lnSpc>
              <a:spcBef>
                <a:spcPts val="95"/>
              </a:spcBef>
            </a:pPr>
            <a:r>
              <a:rPr dirty="0" sz="5650" b="0">
                <a:latin typeface="Georgia"/>
                <a:cs typeface="Georgia"/>
              </a:rPr>
              <a:t>Project</a:t>
            </a:r>
            <a:r>
              <a:rPr dirty="0" sz="5650" spc="-120" b="0">
                <a:latin typeface="Georgia"/>
                <a:cs typeface="Georgia"/>
              </a:rPr>
              <a:t> </a:t>
            </a:r>
            <a:r>
              <a:rPr dirty="0" sz="5650" spc="-10" b="0">
                <a:latin typeface="Georgia"/>
                <a:cs typeface="Georgia"/>
              </a:rPr>
              <a:t>ScreenShots</a:t>
            </a:r>
            <a:endParaRPr sz="56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018" y="1330534"/>
            <a:ext cx="17240249" cy="6448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843" y="938480"/>
            <a:ext cx="17726024" cy="8315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07" y="284752"/>
            <a:ext cx="16875792" cy="49910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207" y="5675672"/>
            <a:ext cx="17078324" cy="38671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328" y="1287805"/>
            <a:ext cx="17906999" cy="64388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653" y="334040"/>
            <a:ext cx="338582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E4057"/>
                </a:solidFill>
              </a:rPr>
              <a:t>Conclusion: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3397" y="1129268"/>
            <a:ext cx="16918305" cy="7389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1915" marR="810260" indent="-69850">
              <a:lnSpc>
                <a:spcPct val="117300"/>
              </a:lnSpc>
              <a:spcBef>
                <a:spcPts val="90"/>
              </a:spcBef>
              <a:buChar char="•"/>
              <a:tabLst>
                <a:tab pos="81915" algn="l"/>
                <a:tab pos="339725" algn="l"/>
              </a:tabLst>
            </a:pP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The</a:t>
            </a:r>
            <a:r>
              <a:rPr dirty="0" sz="4050" spc="-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Global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Payment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Transactions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Tracking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Dashboard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improves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visibility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transparency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in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complex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cross-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border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payment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systems.</a:t>
            </a:r>
            <a:endParaRPr sz="4050">
              <a:latin typeface="Georgia"/>
              <a:cs typeface="Georgia"/>
            </a:endParaRPr>
          </a:p>
          <a:p>
            <a:pPr lvl="1" marL="396875" marR="871219" indent="-324485">
              <a:lnSpc>
                <a:spcPct val="115100"/>
              </a:lnSpc>
              <a:spcBef>
                <a:spcPts val="4295"/>
              </a:spcBef>
              <a:buChar char="•"/>
              <a:tabLst>
                <a:tab pos="3211830" algn="l"/>
              </a:tabLst>
            </a:pP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It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enables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30">
                <a:solidFill>
                  <a:srgbClr val="2E4057"/>
                </a:solidFill>
                <a:latin typeface="Georgia"/>
                <a:cs typeface="Georgia"/>
              </a:rPr>
              <a:t>real-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time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monitoring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of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transactions,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helping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users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quickly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identify</a:t>
            </a:r>
            <a:r>
              <a:rPr dirty="0" sz="405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delays,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failures,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405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system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issues.</a:t>
            </a:r>
            <a:endParaRPr sz="4050">
              <a:latin typeface="Georgia"/>
              <a:cs typeface="Georgia"/>
            </a:endParaRPr>
          </a:p>
          <a:p>
            <a:pPr lvl="2" marL="478155" marR="483234" indent="-313690">
              <a:lnSpc>
                <a:spcPct val="116300"/>
              </a:lnSpc>
              <a:spcBef>
                <a:spcPts val="2580"/>
              </a:spcBef>
              <a:buChar char="•"/>
              <a:tabLst>
                <a:tab pos="3613150" algn="l"/>
              </a:tabLst>
            </a:pP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Features</a:t>
            </a:r>
            <a:r>
              <a:rPr dirty="0" sz="3900" spc="-6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such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as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analytics,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fraud</a:t>
            </a:r>
            <a:r>
              <a:rPr dirty="0" sz="3900" spc="-6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alerts,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reconciliation,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system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 spc="-10">
                <a:solidFill>
                  <a:srgbClr val="2E4057"/>
                </a:solidFill>
                <a:latin typeface="Georgia"/>
                <a:cs typeface="Georgia"/>
              </a:rPr>
              <a:t>health </a:t>
            </a:r>
            <a:r>
              <a:rPr dirty="0" sz="3900" spc="-1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monitoring</a:t>
            </a:r>
            <a:r>
              <a:rPr dirty="0" sz="3900" spc="-8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enhance</a:t>
            </a:r>
            <a:r>
              <a:rPr dirty="0" sz="3900" spc="-8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operational</a:t>
            </a:r>
            <a:r>
              <a:rPr dirty="0" sz="3900" spc="-8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 spc="-10">
                <a:solidFill>
                  <a:srgbClr val="2E4057"/>
                </a:solidFill>
                <a:latin typeface="Georgia"/>
                <a:cs typeface="Georgia"/>
              </a:rPr>
              <a:t>efficiency.</a:t>
            </a:r>
            <a:endParaRPr sz="3900">
              <a:latin typeface="Georgia"/>
              <a:cs typeface="Georgia"/>
            </a:endParaRPr>
          </a:p>
          <a:p>
            <a:pPr lvl="2">
              <a:lnSpc>
                <a:spcPct val="100000"/>
              </a:lnSpc>
              <a:spcBef>
                <a:spcPts val="2970"/>
              </a:spcBef>
              <a:buFont typeface="Georgia"/>
              <a:buChar char="•"/>
            </a:pPr>
            <a:endParaRPr sz="3900">
              <a:latin typeface="Georgia"/>
              <a:cs typeface="Georgia"/>
            </a:endParaRPr>
          </a:p>
          <a:p>
            <a:pPr lvl="2" marL="452755" marR="5080" indent="-295910">
              <a:lnSpc>
                <a:spcPct val="115300"/>
              </a:lnSpc>
              <a:spcBef>
                <a:spcPts val="5"/>
              </a:spcBef>
              <a:buChar char="•"/>
              <a:tabLst>
                <a:tab pos="3209925" algn="l"/>
              </a:tabLst>
            </a:pP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Overall,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the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platform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simplifies</a:t>
            </a:r>
            <a:r>
              <a:rPr dirty="0" sz="370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global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payment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tracking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370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helps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build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 spc="-10">
                <a:solidFill>
                  <a:srgbClr val="2E4057"/>
                </a:solidFill>
                <a:latin typeface="Georgia"/>
                <a:cs typeface="Georgia"/>
              </a:rPr>
              <a:t>greater </a:t>
            </a:r>
            <a:r>
              <a:rPr dirty="0" sz="3700" spc="-1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reliability</a:t>
            </a:r>
            <a:r>
              <a:rPr dirty="0" sz="3700" spc="-11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trust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in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digital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financial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 spc="-10">
                <a:solidFill>
                  <a:srgbClr val="2E4057"/>
                </a:solidFill>
                <a:latin typeface="Georgia"/>
                <a:cs typeface="Georgia"/>
              </a:rPr>
              <a:t>transactions.</a:t>
            </a:r>
            <a:endParaRPr sz="37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3770" y="1640286"/>
            <a:ext cx="6191249" cy="80200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1091" y="1987786"/>
            <a:ext cx="8829674" cy="66198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4851" rIns="0" bIns="0" rtlCol="0" vert="horz">
            <a:spAutoFit/>
          </a:bodyPr>
          <a:lstStyle/>
          <a:p>
            <a:pPr marL="290195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Geo-</a:t>
            </a:r>
            <a:r>
              <a:rPr dirty="0"/>
              <a:t>tagged</a:t>
            </a:r>
            <a:r>
              <a:rPr dirty="0" spc="-40"/>
              <a:t> </a:t>
            </a:r>
            <a:r>
              <a:rPr dirty="0" spc="-10"/>
              <a:t>pictures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97" y="1028700"/>
            <a:ext cx="6772274" cy="81343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6797" y="1787466"/>
            <a:ext cx="8829674" cy="66198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47" y="330933"/>
            <a:ext cx="8458199" cy="569744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9922" y="4455260"/>
            <a:ext cx="9182099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Sharon Rhoda</dc:creator>
  <cp:keywords>DAHDX4Awj_E,BAG7UfTn2Dw,0</cp:keywords>
  <dc:title>FWD-Presentation</dc:title>
  <dcterms:created xsi:type="dcterms:W3CDTF">2026-03-08T17:03:01Z</dcterms:created>
  <dcterms:modified xsi:type="dcterms:W3CDTF">2026-03-08T17:03:01Z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2026-03-08T00:00:00Z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2026-03-08T00:00:00Z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