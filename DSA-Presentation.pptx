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6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2653" y="278280"/>
            <a:ext cx="17682693" cy="15606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627" y="1803681"/>
            <a:ext cx="15652750" cy="2788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6365"/>
            <a:chOff x="0" y="0"/>
            <a:chExt cx="18288000" cy="102863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9518" y="0"/>
              <a:ext cx="9428480" cy="327553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010649" cy="1028593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3885" y="4052470"/>
            <a:ext cx="9182100" cy="133794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600" spc="-140">
                <a:solidFill>
                  <a:srgbClr val="6B7989"/>
                </a:solidFill>
              </a:rPr>
              <a:t>Global</a:t>
            </a:r>
            <a:r>
              <a:rPr dirty="0" sz="8600" spc="-380">
                <a:solidFill>
                  <a:srgbClr val="6B7989"/>
                </a:solidFill>
              </a:rPr>
              <a:t> </a:t>
            </a:r>
            <a:r>
              <a:rPr dirty="0" sz="8600" spc="-160">
                <a:solidFill>
                  <a:srgbClr val="6B7989"/>
                </a:solidFill>
              </a:rPr>
              <a:t>Payments</a:t>
            </a:r>
            <a:endParaRPr sz="8600"/>
          </a:p>
        </p:txBody>
      </p:sp>
      <p:sp>
        <p:nvSpPr>
          <p:cNvPr id="6" name="object 6" descr=""/>
          <p:cNvSpPr txBox="1"/>
          <p:nvPr/>
        </p:nvSpPr>
        <p:spPr>
          <a:xfrm>
            <a:off x="9437484" y="5719031"/>
            <a:ext cx="8334375" cy="17545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6795"/>
              </a:lnSpc>
              <a:spcBef>
                <a:spcPts val="114"/>
              </a:spcBef>
            </a:pPr>
            <a:r>
              <a:rPr dirty="0" sz="6200" b="1">
                <a:solidFill>
                  <a:srgbClr val="2E4057"/>
                </a:solidFill>
                <a:latin typeface="Georgia"/>
                <a:cs typeface="Georgia"/>
              </a:rPr>
              <a:t>Transaction</a:t>
            </a:r>
            <a:r>
              <a:rPr dirty="0" sz="6200" spc="-60" b="1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6200" spc="-25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endParaRPr sz="6200">
              <a:latin typeface="Georgia"/>
              <a:cs typeface="Georgia"/>
            </a:endParaRPr>
          </a:p>
          <a:p>
            <a:pPr marL="12700">
              <a:lnSpc>
                <a:spcPts val="6795"/>
              </a:lnSpc>
            </a:pPr>
            <a:r>
              <a:rPr dirty="0" sz="6200" b="1">
                <a:solidFill>
                  <a:srgbClr val="2E4057"/>
                </a:solidFill>
                <a:latin typeface="Georgia"/>
                <a:cs typeface="Georgia"/>
              </a:rPr>
              <a:t>Tracking</a:t>
            </a:r>
            <a:r>
              <a:rPr dirty="0" sz="6200" spc="-45" b="1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6200" spc="-10" b="1">
                <a:solidFill>
                  <a:srgbClr val="2E4057"/>
                </a:solidFill>
                <a:latin typeface="Georgia"/>
                <a:cs typeface="Georgia"/>
              </a:rPr>
              <a:t>Dashboard</a:t>
            </a:r>
            <a:endParaRPr sz="6200">
              <a:latin typeface="Georgia"/>
              <a:cs typeface="Georg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260195" y="9030996"/>
            <a:ext cx="5807710" cy="118745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3600">
                <a:latin typeface="Georgia"/>
                <a:cs typeface="Georgia"/>
              </a:rPr>
              <a:t>Presented</a:t>
            </a:r>
            <a:r>
              <a:rPr dirty="0" sz="3600" spc="-35">
                <a:latin typeface="Georgia"/>
                <a:cs typeface="Georgia"/>
              </a:rPr>
              <a:t> </a:t>
            </a:r>
            <a:r>
              <a:rPr dirty="0" sz="3600">
                <a:latin typeface="Georgia"/>
                <a:cs typeface="Georgia"/>
              </a:rPr>
              <a:t>by:</a:t>
            </a:r>
            <a:r>
              <a:rPr dirty="0" sz="3600" spc="-25">
                <a:latin typeface="Georgia"/>
                <a:cs typeface="Georgia"/>
              </a:rPr>
              <a:t> </a:t>
            </a:r>
            <a:r>
              <a:rPr dirty="0" sz="3600">
                <a:latin typeface="Georgia"/>
                <a:cs typeface="Georgia"/>
              </a:rPr>
              <a:t>Sharon</a:t>
            </a:r>
            <a:r>
              <a:rPr dirty="0" sz="3600" spc="-25">
                <a:latin typeface="Georgia"/>
                <a:cs typeface="Georgia"/>
              </a:rPr>
              <a:t> </a:t>
            </a:r>
            <a:r>
              <a:rPr dirty="0" sz="3600" spc="-10">
                <a:latin typeface="Georgia"/>
                <a:cs typeface="Georgia"/>
              </a:rPr>
              <a:t>Rhoda</a:t>
            </a:r>
            <a:endParaRPr sz="36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dirty="0" sz="3600" spc="-10">
                <a:latin typeface="Times New Roman"/>
                <a:cs typeface="Times New Roman"/>
              </a:rPr>
              <a:t>2520040001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0"/>
            <a:ext cx="7553324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8114" rIns="0" bIns="0" rtlCol="0" vert="horz">
            <a:spAutoFit/>
          </a:bodyPr>
          <a:lstStyle/>
          <a:p>
            <a:pPr marL="363855">
              <a:lnSpc>
                <a:spcPct val="100000"/>
              </a:lnSpc>
              <a:spcBef>
                <a:spcPts val="100"/>
              </a:spcBef>
            </a:pPr>
            <a:r>
              <a:rPr dirty="0" sz="8000" spc="-10">
                <a:solidFill>
                  <a:srgbClr val="2E4057"/>
                </a:solidFill>
              </a:rPr>
              <a:t>Abstract</a:t>
            </a:r>
            <a:endParaRPr sz="8000"/>
          </a:p>
        </p:txBody>
      </p:sp>
      <p:sp>
        <p:nvSpPr>
          <p:cNvPr id="4" name="object 4" descr=""/>
          <p:cNvSpPr txBox="1"/>
          <p:nvPr/>
        </p:nvSpPr>
        <p:spPr>
          <a:xfrm>
            <a:off x="654049" y="2128131"/>
            <a:ext cx="9542145" cy="7569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Global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75">
                <a:solidFill>
                  <a:srgbClr val="6B7989"/>
                </a:solidFill>
                <a:latin typeface="Verdana"/>
                <a:cs typeface="Verdana"/>
              </a:rPr>
              <a:t>payment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40">
                <a:solidFill>
                  <a:srgbClr val="6B7989"/>
                </a:solidFill>
                <a:latin typeface="Verdana"/>
                <a:cs typeface="Verdana"/>
              </a:rPr>
              <a:t>transactions</a:t>
            </a:r>
            <a:r>
              <a:rPr dirty="0" sz="3550" spc="-32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involve </a:t>
            </a:r>
            <a:r>
              <a:rPr dirty="0" sz="3550" spc="-20">
                <a:solidFill>
                  <a:srgbClr val="6B7989"/>
                </a:solidFill>
                <a:latin typeface="Verdana"/>
                <a:cs typeface="Verdana"/>
              </a:rPr>
              <a:t>multiple</a:t>
            </a:r>
            <a:r>
              <a:rPr dirty="0" sz="3550" spc="-30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50">
                <a:solidFill>
                  <a:srgbClr val="6B7989"/>
                </a:solidFill>
                <a:latin typeface="Verdana"/>
                <a:cs typeface="Verdana"/>
              </a:rPr>
              <a:t>stages,</a:t>
            </a:r>
            <a:r>
              <a:rPr dirty="0" sz="3550" spc="-29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85">
                <a:solidFill>
                  <a:srgbClr val="6B7989"/>
                </a:solidFill>
                <a:latin typeface="Verdana"/>
                <a:cs typeface="Verdana"/>
              </a:rPr>
              <a:t>intermediaries,</a:t>
            </a:r>
            <a:r>
              <a:rPr dirty="0" sz="3550" spc="-29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5">
                <a:solidFill>
                  <a:srgbClr val="6B7989"/>
                </a:solidFill>
                <a:latin typeface="Verdana"/>
                <a:cs typeface="Verdana"/>
              </a:rPr>
              <a:t>and </a:t>
            </a:r>
            <a:r>
              <a:rPr dirty="0" sz="3550" spc="-70">
                <a:solidFill>
                  <a:srgbClr val="6B7989"/>
                </a:solidFill>
                <a:latin typeface="Verdana"/>
                <a:cs typeface="Verdana"/>
              </a:rPr>
              <a:t>geographical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25">
                <a:solidFill>
                  <a:srgbClr val="6B7989"/>
                </a:solidFill>
                <a:latin typeface="Verdana"/>
                <a:cs typeface="Verdana"/>
              </a:rPr>
              <a:t>regions,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70">
                <a:solidFill>
                  <a:srgbClr val="6B7989"/>
                </a:solidFill>
                <a:latin typeface="Verdana"/>
                <a:cs typeface="Verdana"/>
              </a:rPr>
              <a:t>making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60">
                <a:solidFill>
                  <a:srgbClr val="6B7989"/>
                </a:solidFill>
                <a:latin typeface="Verdana"/>
                <a:cs typeface="Verdana"/>
              </a:rPr>
              <a:t>them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complex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and</a:t>
            </a:r>
            <a:r>
              <a:rPr dirty="0" sz="3550" spc="-27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>
                <a:solidFill>
                  <a:srgbClr val="6B7989"/>
                </a:solidFill>
                <a:latin typeface="Verdana"/>
                <a:cs typeface="Verdana"/>
              </a:rPr>
              <a:t>difficult</a:t>
            </a:r>
            <a:r>
              <a:rPr dirty="0" sz="3550" spc="-26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>
                <a:solidFill>
                  <a:srgbClr val="6B7989"/>
                </a:solidFill>
                <a:latin typeface="Verdana"/>
                <a:cs typeface="Verdana"/>
              </a:rPr>
              <a:t>to</a:t>
            </a:r>
            <a:r>
              <a:rPr dirty="0" sz="3550" spc="-26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10">
                <a:solidFill>
                  <a:srgbClr val="6B7989"/>
                </a:solidFill>
                <a:latin typeface="Verdana"/>
                <a:cs typeface="Verdana"/>
              </a:rPr>
              <a:t>track.</a:t>
            </a:r>
            <a:r>
              <a:rPr dirty="0" sz="3550" spc="-26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Users</a:t>
            </a:r>
            <a:r>
              <a:rPr dirty="0" sz="3550" spc="-26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>
                <a:solidFill>
                  <a:srgbClr val="6B7989"/>
                </a:solidFill>
                <a:latin typeface="Verdana"/>
                <a:cs typeface="Verdana"/>
              </a:rPr>
              <a:t>often</a:t>
            </a:r>
            <a:r>
              <a:rPr dirty="0" sz="3550" spc="-26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0">
                <a:solidFill>
                  <a:srgbClr val="6B7989"/>
                </a:solidFill>
                <a:latin typeface="Verdana"/>
                <a:cs typeface="Verdana"/>
              </a:rPr>
              <a:t>face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challenges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45">
                <a:solidFill>
                  <a:srgbClr val="6B7989"/>
                </a:solidFill>
                <a:latin typeface="Verdana"/>
                <a:cs typeface="Verdana"/>
              </a:rPr>
              <a:t>in</a:t>
            </a:r>
            <a:r>
              <a:rPr dirty="0" sz="3550" spc="-32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60">
                <a:solidFill>
                  <a:srgbClr val="6B7989"/>
                </a:solidFill>
                <a:latin typeface="Verdana"/>
                <a:cs typeface="Verdana"/>
              </a:rPr>
              <a:t>understanding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30">
                <a:solidFill>
                  <a:srgbClr val="6B7989"/>
                </a:solidFill>
                <a:latin typeface="Verdana"/>
                <a:cs typeface="Verdana"/>
              </a:rPr>
              <a:t>the</a:t>
            </a:r>
            <a:r>
              <a:rPr dirty="0" sz="3550" spc="-32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current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status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75">
                <a:solidFill>
                  <a:srgbClr val="6B7989"/>
                </a:solidFill>
                <a:latin typeface="Verdana"/>
                <a:cs typeface="Verdana"/>
              </a:rPr>
              <a:t>of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55">
                <a:solidFill>
                  <a:srgbClr val="6B7989"/>
                </a:solidFill>
                <a:latin typeface="Verdana"/>
                <a:cs typeface="Verdana"/>
              </a:rPr>
              <a:t>a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0">
                <a:solidFill>
                  <a:srgbClr val="6B7989"/>
                </a:solidFill>
                <a:latin typeface="Verdana"/>
                <a:cs typeface="Verdana"/>
              </a:rPr>
              <a:t>payment,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40">
                <a:solidFill>
                  <a:srgbClr val="6B7989"/>
                </a:solidFill>
                <a:latin typeface="Verdana"/>
                <a:cs typeface="Verdana"/>
              </a:rPr>
              <a:t>identifying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5">
                <a:solidFill>
                  <a:srgbClr val="6B7989"/>
                </a:solidFill>
                <a:latin typeface="Verdana"/>
                <a:cs typeface="Verdana"/>
              </a:rPr>
              <a:t>delays,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5">
                <a:solidFill>
                  <a:srgbClr val="6B7989"/>
                </a:solidFill>
                <a:latin typeface="Verdana"/>
                <a:cs typeface="Verdana"/>
              </a:rPr>
              <a:t>or </a:t>
            </a:r>
            <a:r>
              <a:rPr dirty="0" sz="3550" spc="-120">
                <a:solidFill>
                  <a:srgbClr val="6B7989"/>
                </a:solidFill>
                <a:latin typeface="Verdana"/>
                <a:cs typeface="Verdana"/>
              </a:rPr>
              <a:t>knowing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30">
                <a:solidFill>
                  <a:srgbClr val="6B7989"/>
                </a:solidFill>
                <a:latin typeface="Verdana"/>
                <a:cs typeface="Verdana"/>
              </a:rPr>
              <a:t>the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75">
                <a:solidFill>
                  <a:srgbClr val="6B7989"/>
                </a:solidFill>
                <a:latin typeface="Verdana"/>
                <a:cs typeface="Verdana"/>
              </a:rPr>
              <a:t>reasons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0">
                <a:solidFill>
                  <a:srgbClr val="6B7989"/>
                </a:solidFill>
                <a:latin typeface="Verdana"/>
                <a:cs typeface="Verdana"/>
              </a:rPr>
              <a:t>behind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transaction </a:t>
            </a:r>
            <a:r>
              <a:rPr dirty="0" sz="3550" spc="-90">
                <a:solidFill>
                  <a:srgbClr val="6B7989"/>
                </a:solidFill>
                <a:latin typeface="Verdana"/>
                <a:cs typeface="Verdana"/>
              </a:rPr>
              <a:t>failures.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85">
                <a:solidFill>
                  <a:srgbClr val="6B7989"/>
                </a:solidFill>
                <a:latin typeface="Verdana"/>
                <a:cs typeface="Verdana"/>
              </a:rPr>
              <a:t>The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80">
                <a:solidFill>
                  <a:srgbClr val="6B7989"/>
                </a:solidFill>
                <a:latin typeface="Verdana"/>
                <a:cs typeface="Verdana"/>
              </a:rPr>
              <a:t>lack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75">
                <a:solidFill>
                  <a:srgbClr val="6B7989"/>
                </a:solidFill>
                <a:latin typeface="Verdana"/>
                <a:cs typeface="Verdana"/>
              </a:rPr>
              <a:t>of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transparency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5">
                <a:solidFill>
                  <a:srgbClr val="6B7989"/>
                </a:solidFill>
                <a:latin typeface="Verdana"/>
                <a:cs typeface="Verdana"/>
              </a:rPr>
              <a:t>in </a:t>
            </a:r>
            <a:r>
              <a:rPr dirty="0" sz="3550" spc="-45">
                <a:solidFill>
                  <a:srgbClr val="6B7989"/>
                </a:solidFill>
                <a:latin typeface="Verdana"/>
                <a:cs typeface="Verdana"/>
              </a:rPr>
              <a:t>international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75">
                <a:solidFill>
                  <a:srgbClr val="6B7989"/>
                </a:solidFill>
                <a:latin typeface="Verdana"/>
                <a:cs typeface="Verdana"/>
              </a:rPr>
              <a:t>payment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>
                <a:solidFill>
                  <a:srgbClr val="6B7989"/>
                </a:solidFill>
                <a:latin typeface="Verdana"/>
                <a:cs typeface="Verdana"/>
              </a:rPr>
              <a:t>flows</a:t>
            </a:r>
            <a:r>
              <a:rPr dirty="0" sz="3550" spc="-32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35">
                <a:solidFill>
                  <a:srgbClr val="6B7989"/>
                </a:solidFill>
                <a:latin typeface="Verdana"/>
                <a:cs typeface="Verdana"/>
              </a:rPr>
              <a:t>can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30">
                <a:solidFill>
                  <a:srgbClr val="6B7989"/>
                </a:solidFill>
                <a:latin typeface="Verdana"/>
                <a:cs typeface="Verdana"/>
              </a:rPr>
              <a:t>lead</a:t>
            </a:r>
            <a:r>
              <a:rPr dirty="0" sz="3550" spc="-32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25">
                <a:solidFill>
                  <a:srgbClr val="6B7989"/>
                </a:solidFill>
                <a:latin typeface="Verdana"/>
                <a:cs typeface="Verdana"/>
              </a:rPr>
              <a:t>to </a:t>
            </a:r>
            <a:r>
              <a:rPr dirty="0" sz="3550" spc="-40">
                <a:solidFill>
                  <a:srgbClr val="6B7989"/>
                </a:solidFill>
                <a:latin typeface="Verdana"/>
                <a:cs typeface="Verdana"/>
              </a:rPr>
              <a:t>confusion,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reduced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65">
                <a:solidFill>
                  <a:srgbClr val="6B7989"/>
                </a:solidFill>
                <a:latin typeface="Verdana"/>
                <a:cs typeface="Verdana"/>
              </a:rPr>
              <a:t>trust,</a:t>
            </a:r>
            <a:r>
              <a:rPr dirty="0" sz="3550" spc="-33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and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inefficiencies </a:t>
            </a:r>
            <a:r>
              <a:rPr dirty="0" sz="3550">
                <a:solidFill>
                  <a:srgbClr val="6B7989"/>
                </a:solidFill>
                <a:latin typeface="Verdana"/>
                <a:cs typeface="Verdana"/>
              </a:rPr>
              <a:t>for</a:t>
            </a:r>
            <a:r>
              <a:rPr dirty="0" sz="3550" spc="-29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40">
                <a:solidFill>
                  <a:srgbClr val="6B7989"/>
                </a:solidFill>
                <a:latin typeface="Verdana"/>
                <a:cs typeface="Verdana"/>
              </a:rPr>
              <a:t>individuals</a:t>
            </a:r>
            <a:r>
              <a:rPr dirty="0" sz="3550" spc="-29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55">
                <a:solidFill>
                  <a:srgbClr val="6B7989"/>
                </a:solidFill>
                <a:latin typeface="Verdana"/>
                <a:cs typeface="Verdana"/>
              </a:rPr>
              <a:t>and</a:t>
            </a:r>
            <a:r>
              <a:rPr dirty="0" sz="3550" spc="-29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85">
                <a:solidFill>
                  <a:srgbClr val="6B7989"/>
                </a:solidFill>
                <a:latin typeface="Verdana"/>
                <a:cs typeface="Verdana"/>
              </a:rPr>
              <a:t>organizations</a:t>
            </a:r>
            <a:r>
              <a:rPr dirty="0" sz="3550" spc="-29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involved </a:t>
            </a:r>
            <a:r>
              <a:rPr dirty="0" sz="3550" spc="-45">
                <a:solidFill>
                  <a:srgbClr val="6B7989"/>
                </a:solidFill>
                <a:latin typeface="Verdana"/>
                <a:cs typeface="Verdana"/>
              </a:rPr>
              <a:t>in</a:t>
            </a:r>
            <a:r>
              <a:rPr dirty="0" sz="3550" spc="-330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85">
                <a:solidFill>
                  <a:srgbClr val="6B7989"/>
                </a:solidFill>
                <a:latin typeface="Verdana"/>
                <a:cs typeface="Verdana"/>
              </a:rPr>
              <a:t>cross-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border</a:t>
            </a:r>
            <a:r>
              <a:rPr dirty="0" sz="3550" spc="-325">
                <a:solidFill>
                  <a:srgbClr val="6B7989"/>
                </a:solidFill>
                <a:latin typeface="Verdana"/>
                <a:cs typeface="Verdana"/>
              </a:rPr>
              <a:t> </a:t>
            </a:r>
            <a:r>
              <a:rPr dirty="0" sz="3550" spc="-10">
                <a:solidFill>
                  <a:srgbClr val="6B7989"/>
                </a:solidFill>
                <a:latin typeface="Verdana"/>
                <a:cs typeface="Verdana"/>
              </a:rPr>
              <a:t>transactions</a:t>
            </a:r>
            <a:endParaRPr sz="3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4675" y="0"/>
            <a:ext cx="7553324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8114" rIns="0" bIns="0" rtlCol="0" vert="horz">
            <a:spAutoFit/>
          </a:bodyPr>
          <a:lstStyle/>
          <a:p>
            <a:pPr marL="363855">
              <a:lnSpc>
                <a:spcPct val="100000"/>
              </a:lnSpc>
              <a:spcBef>
                <a:spcPts val="100"/>
              </a:spcBef>
            </a:pPr>
            <a:r>
              <a:rPr dirty="0" sz="8000">
                <a:solidFill>
                  <a:srgbClr val="2E4057"/>
                </a:solidFill>
              </a:rPr>
              <a:t>Proposed</a:t>
            </a:r>
            <a:r>
              <a:rPr dirty="0" sz="8000" spc="-185">
                <a:solidFill>
                  <a:srgbClr val="2E4057"/>
                </a:solidFill>
              </a:rPr>
              <a:t> </a:t>
            </a:r>
            <a:r>
              <a:rPr dirty="0" sz="8000" spc="-10">
                <a:solidFill>
                  <a:srgbClr val="2E4057"/>
                </a:solidFill>
              </a:rPr>
              <a:t>Solution</a:t>
            </a:r>
            <a:endParaRPr sz="8000"/>
          </a:p>
        </p:txBody>
      </p:sp>
      <p:sp>
        <p:nvSpPr>
          <p:cNvPr id="4" name="object 4" descr=""/>
          <p:cNvSpPr txBox="1"/>
          <p:nvPr/>
        </p:nvSpPr>
        <p:spPr>
          <a:xfrm>
            <a:off x="654049" y="1963901"/>
            <a:ext cx="9918065" cy="7955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999"/>
              </a:lnSpc>
              <a:spcBef>
                <a:spcPts val="100"/>
              </a:spcBef>
            </a:pP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The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Global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45">
                <a:solidFill>
                  <a:srgbClr val="2E4057"/>
                </a:solidFill>
                <a:latin typeface="Arial MT"/>
                <a:cs typeface="Arial MT"/>
              </a:rPr>
              <a:t>Payment</a:t>
            </a:r>
            <a:r>
              <a:rPr dirty="0" sz="3450" spc="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Transactions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and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2E4057"/>
                </a:solidFill>
                <a:latin typeface="Arial MT"/>
                <a:cs typeface="Arial MT"/>
              </a:rPr>
              <a:t>Tracking </a:t>
            </a:r>
            <a:r>
              <a:rPr dirty="0" sz="3450" spc="50">
                <a:solidFill>
                  <a:srgbClr val="2E4057"/>
                </a:solidFill>
                <a:latin typeface="Arial MT"/>
                <a:cs typeface="Arial MT"/>
              </a:rPr>
              <a:t>Dashboard</a:t>
            </a:r>
            <a:r>
              <a:rPr dirty="0" sz="3450" spc="1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aims</a:t>
            </a:r>
            <a:r>
              <a:rPr dirty="0" sz="3450" spc="1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215">
                <a:solidFill>
                  <a:srgbClr val="2E4057"/>
                </a:solidFill>
                <a:latin typeface="Arial MT"/>
                <a:cs typeface="Arial MT"/>
              </a:rPr>
              <a:t>to</a:t>
            </a:r>
            <a:r>
              <a:rPr dirty="0" sz="3450" spc="1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address</a:t>
            </a:r>
            <a:r>
              <a:rPr dirty="0" sz="3450" spc="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14">
                <a:solidFill>
                  <a:srgbClr val="2E4057"/>
                </a:solidFill>
                <a:latin typeface="Arial MT"/>
                <a:cs typeface="Arial MT"/>
              </a:rPr>
              <a:t>this</a:t>
            </a:r>
            <a:r>
              <a:rPr dirty="0" sz="3450" spc="1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issue</a:t>
            </a:r>
            <a:r>
              <a:rPr dirty="0" sz="3450" spc="1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20">
                <a:solidFill>
                  <a:srgbClr val="2E4057"/>
                </a:solidFill>
                <a:latin typeface="Arial MT"/>
                <a:cs typeface="Arial MT"/>
              </a:rPr>
              <a:t>by </a:t>
            </a:r>
            <a:r>
              <a:rPr dirty="0" sz="3450" spc="85">
                <a:solidFill>
                  <a:srgbClr val="2E4057"/>
                </a:solidFill>
                <a:latin typeface="Arial MT"/>
                <a:cs typeface="Arial MT"/>
              </a:rPr>
              <a:t>providing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a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centralized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and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55">
                <a:solidFill>
                  <a:srgbClr val="2E4057"/>
                </a:solidFill>
                <a:latin typeface="Arial MT"/>
                <a:cs typeface="Arial MT"/>
              </a:rPr>
              <a:t>user-</a:t>
            </a:r>
            <a:r>
              <a:rPr dirty="0" sz="3450" spc="95">
                <a:solidFill>
                  <a:srgbClr val="2E4057"/>
                </a:solidFill>
                <a:latin typeface="Arial MT"/>
                <a:cs typeface="Arial MT"/>
              </a:rPr>
              <a:t>friendly interface</a:t>
            </a:r>
            <a:r>
              <a:rPr dirty="0" sz="3450" spc="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70">
                <a:solidFill>
                  <a:srgbClr val="2E4057"/>
                </a:solidFill>
                <a:latin typeface="Arial MT"/>
                <a:cs typeface="Arial MT"/>
              </a:rPr>
              <a:t>that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visually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75">
                <a:solidFill>
                  <a:srgbClr val="2E4057"/>
                </a:solidFill>
                <a:latin typeface="Arial MT"/>
                <a:cs typeface="Arial MT"/>
              </a:rPr>
              <a:t>represents</a:t>
            </a:r>
            <a:r>
              <a:rPr dirty="0" sz="3450" spc="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50">
                <a:solidFill>
                  <a:srgbClr val="2E4057"/>
                </a:solidFill>
                <a:latin typeface="Arial MT"/>
                <a:cs typeface="Arial MT"/>
              </a:rPr>
              <a:t>the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75">
                <a:solidFill>
                  <a:srgbClr val="2E4057"/>
                </a:solidFill>
                <a:latin typeface="Arial MT"/>
                <a:cs typeface="Arial MT"/>
              </a:rPr>
              <a:t>journey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20">
                <a:solidFill>
                  <a:srgbClr val="2E4057"/>
                </a:solidFill>
                <a:latin typeface="Arial MT"/>
                <a:cs typeface="Arial MT"/>
              </a:rPr>
              <a:t>of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global</a:t>
            </a:r>
            <a:r>
              <a:rPr dirty="0" sz="3450" spc="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70">
                <a:solidFill>
                  <a:srgbClr val="2E4057"/>
                </a:solidFill>
                <a:latin typeface="Arial MT"/>
                <a:cs typeface="Arial MT"/>
              </a:rPr>
              <a:t>payments.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The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5">
                <a:solidFill>
                  <a:srgbClr val="2E4057"/>
                </a:solidFill>
                <a:latin typeface="Arial MT"/>
                <a:cs typeface="Arial MT"/>
              </a:rPr>
              <a:t>dashboard</a:t>
            </a:r>
            <a:r>
              <a:rPr dirty="0" sz="3450" spc="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50">
                <a:solidFill>
                  <a:srgbClr val="2E4057"/>
                </a:solidFill>
                <a:latin typeface="Arial MT"/>
                <a:cs typeface="Arial MT"/>
              </a:rPr>
              <a:t>displays </a:t>
            </a:r>
            <a:r>
              <a:rPr dirty="0" sz="3450" spc="105">
                <a:solidFill>
                  <a:srgbClr val="2E4057"/>
                </a:solidFill>
                <a:latin typeface="Arial MT"/>
                <a:cs typeface="Arial MT"/>
              </a:rPr>
              <a:t>transaction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status,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10">
                <a:solidFill>
                  <a:srgbClr val="2E4057"/>
                </a:solidFill>
                <a:latin typeface="Arial MT"/>
                <a:cs typeface="Arial MT"/>
              </a:rPr>
              <a:t>movement</a:t>
            </a:r>
            <a:r>
              <a:rPr dirty="0" sz="3450" spc="8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across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50">
                <a:solidFill>
                  <a:srgbClr val="2E4057"/>
                </a:solidFill>
                <a:latin typeface="Arial MT"/>
                <a:cs typeface="Arial MT"/>
              </a:rPr>
              <a:t>countries, </a:t>
            </a:r>
            <a:r>
              <a:rPr dirty="0" sz="3450" spc="110">
                <a:solidFill>
                  <a:srgbClr val="2E4057"/>
                </a:solidFill>
                <a:latin typeface="Arial MT"/>
                <a:cs typeface="Arial MT"/>
              </a:rPr>
              <a:t>currency</a:t>
            </a:r>
            <a:r>
              <a:rPr dirty="0" sz="3450" spc="-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flow,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and</a:t>
            </a:r>
            <a:r>
              <a:rPr dirty="0" sz="3450" spc="-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95">
                <a:solidFill>
                  <a:srgbClr val="2E4057"/>
                </a:solidFill>
                <a:latin typeface="Arial MT"/>
                <a:cs typeface="Arial MT"/>
              </a:rPr>
              <a:t>summary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insights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55">
                <a:solidFill>
                  <a:srgbClr val="2E4057"/>
                </a:solidFill>
                <a:latin typeface="Arial MT"/>
                <a:cs typeface="Arial MT"/>
              </a:rPr>
              <a:t>in</a:t>
            </a:r>
            <a:r>
              <a:rPr dirty="0" sz="3450" spc="-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a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35">
                <a:solidFill>
                  <a:srgbClr val="2E4057"/>
                </a:solidFill>
                <a:latin typeface="Arial MT"/>
                <a:cs typeface="Arial MT"/>
              </a:rPr>
              <a:t>clear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and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30">
                <a:solidFill>
                  <a:srgbClr val="2E4057"/>
                </a:solidFill>
                <a:latin typeface="Arial MT"/>
                <a:cs typeface="Arial MT"/>
              </a:rPr>
              <a:t>structured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manner.</a:t>
            </a:r>
            <a:r>
              <a:rPr dirty="0" sz="3450" spc="-4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By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5">
                <a:solidFill>
                  <a:srgbClr val="2E4057"/>
                </a:solidFill>
                <a:latin typeface="Arial MT"/>
                <a:cs typeface="Arial MT"/>
              </a:rPr>
              <a:t>transforming</a:t>
            </a:r>
            <a:r>
              <a:rPr dirty="0" sz="3450" spc="-5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90">
                <a:solidFill>
                  <a:srgbClr val="2E4057"/>
                </a:solidFill>
                <a:latin typeface="Arial MT"/>
                <a:cs typeface="Arial MT"/>
              </a:rPr>
              <a:t>complex </a:t>
            </a:r>
            <a:r>
              <a:rPr dirty="0" sz="3450" spc="140">
                <a:solidFill>
                  <a:srgbClr val="2E4057"/>
                </a:solidFill>
                <a:latin typeface="Arial MT"/>
                <a:cs typeface="Arial MT"/>
              </a:rPr>
              <a:t>payment</a:t>
            </a:r>
            <a:r>
              <a:rPr dirty="0" sz="3450" spc="-2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10">
                <a:solidFill>
                  <a:srgbClr val="2E4057"/>
                </a:solidFill>
                <a:latin typeface="Arial MT"/>
                <a:cs typeface="Arial MT"/>
              </a:rPr>
              <a:t>data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35">
                <a:solidFill>
                  <a:srgbClr val="2E4057"/>
                </a:solidFill>
                <a:latin typeface="Arial MT"/>
                <a:cs typeface="Arial MT"/>
              </a:rPr>
              <a:t>into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easy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345">
                <a:solidFill>
                  <a:srgbClr val="2E4057"/>
                </a:solidFill>
                <a:latin typeface="Arial MT"/>
                <a:cs typeface="Arial MT"/>
              </a:rPr>
              <a:t>to-</a:t>
            </a:r>
            <a:r>
              <a:rPr dirty="0" sz="3450" spc="100">
                <a:solidFill>
                  <a:srgbClr val="2E4057"/>
                </a:solidFill>
                <a:latin typeface="Arial MT"/>
                <a:cs typeface="Arial MT"/>
              </a:rPr>
              <a:t>understand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2E4057"/>
                </a:solidFill>
                <a:latin typeface="Arial MT"/>
                <a:cs typeface="Arial MT"/>
              </a:rPr>
              <a:t>visual </a:t>
            </a:r>
            <a:r>
              <a:rPr dirty="0" sz="3450" spc="60">
                <a:solidFill>
                  <a:srgbClr val="2E4057"/>
                </a:solidFill>
                <a:latin typeface="Arial MT"/>
                <a:cs typeface="Arial MT"/>
              </a:rPr>
              <a:t>information,</a:t>
            </a:r>
            <a:r>
              <a:rPr dirty="0" sz="3450" spc="-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50">
                <a:solidFill>
                  <a:srgbClr val="2E4057"/>
                </a:solidFill>
                <a:latin typeface="Arial MT"/>
                <a:cs typeface="Arial MT"/>
              </a:rPr>
              <a:t>the</a:t>
            </a:r>
            <a:r>
              <a:rPr dirty="0" sz="3450" spc="-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45">
                <a:solidFill>
                  <a:srgbClr val="2E4057"/>
                </a:solidFill>
                <a:latin typeface="Arial MT"/>
                <a:cs typeface="Arial MT"/>
              </a:rPr>
              <a:t>project</a:t>
            </a:r>
            <a:r>
              <a:rPr dirty="0" sz="3450" spc="-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45">
                <a:solidFill>
                  <a:srgbClr val="2E4057"/>
                </a:solidFill>
                <a:latin typeface="Arial MT"/>
                <a:cs typeface="Arial MT"/>
              </a:rPr>
              <a:t>enhances</a:t>
            </a:r>
            <a:r>
              <a:rPr dirty="0" sz="3450" spc="-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35">
                <a:solidFill>
                  <a:srgbClr val="2E4057"/>
                </a:solidFill>
                <a:latin typeface="Arial MT"/>
                <a:cs typeface="Arial MT"/>
              </a:rPr>
              <a:t>transparency, </a:t>
            </a:r>
            <a:r>
              <a:rPr dirty="0" sz="3450" spc="65">
                <a:solidFill>
                  <a:srgbClr val="2E4057"/>
                </a:solidFill>
                <a:latin typeface="Arial MT"/>
                <a:cs typeface="Arial MT"/>
              </a:rPr>
              <a:t>improves</a:t>
            </a:r>
            <a:r>
              <a:rPr dirty="0" sz="3450" spc="-3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user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-25">
                <a:solidFill>
                  <a:srgbClr val="2E4057"/>
                </a:solidFill>
                <a:latin typeface="Arial MT"/>
                <a:cs typeface="Arial MT"/>
              </a:rPr>
              <a:t>awareness,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80">
                <a:solidFill>
                  <a:srgbClr val="2E4057"/>
                </a:solidFill>
                <a:latin typeface="Arial MT"/>
                <a:cs typeface="Arial MT"/>
              </a:rPr>
              <a:t>and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serves</a:t>
            </a:r>
            <a:r>
              <a:rPr dirty="0" sz="3450" spc="-2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as</a:t>
            </a:r>
            <a:r>
              <a:rPr dirty="0" sz="3450" spc="-1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-25">
                <a:solidFill>
                  <a:srgbClr val="2E4057"/>
                </a:solidFill>
                <a:latin typeface="Arial MT"/>
                <a:cs typeface="Arial MT"/>
              </a:rPr>
              <a:t>an </a:t>
            </a:r>
            <a:r>
              <a:rPr dirty="0" sz="3450" spc="110">
                <a:solidFill>
                  <a:srgbClr val="2E4057"/>
                </a:solidFill>
                <a:latin typeface="Arial MT"/>
                <a:cs typeface="Arial MT"/>
              </a:rPr>
              <a:t>effective</a:t>
            </a:r>
            <a:r>
              <a:rPr dirty="0" sz="3450" spc="-6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35">
                <a:solidFill>
                  <a:srgbClr val="2E4057"/>
                </a:solidFill>
                <a:latin typeface="Arial MT"/>
                <a:cs typeface="Arial MT"/>
              </a:rPr>
              <a:t>tool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05">
                <a:solidFill>
                  <a:srgbClr val="2E4057"/>
                </a:solidFill>
                <a:latin typeface="Arial MT"/>
                <a:cs typeface="Arial MT"/>
              </a:rPr>
              <a:t>for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learning,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60">
                <a:solidFill>
                  <a:srgbClr val="2E4057"/>
                </a:solidFill>
                <a:latin typeface="Arial MT"/>
                <a:cs typeface="Arial MT"/>
              </a:rPr>
              <a:t>monitoring,</a:t>
            </a:r>
            <a:r>
              <a:rPr dirty="0" sz="3450" spc="-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55">
                <a:solidFill>
                  <a:srgbClr val="2E4057"/>
                </a:solidFill>
                <a:latin typeface="Arial MT"/>
                <a:cs typeface="Arial MT"/>
              </a:rPr>
              <a:t>and </a:t>
            </a:r>
            <a:r>
              <a:rPr dirty="0" sz="3450" spc="105">
                <a:solidFill>
                  <a:srgbClr val="2E4057"/>
                </a:solidFill>
                <a:latin typeface="Arial MT"/>
                <a:cs typeface="Arial MT"/>
              </a:rPr>
              <a:t>demonstrating</a:t>
            </a:r>
            <a:r>
              <a:rPr dirty="0" sz="3450" spc="5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2E4057"/>
                </a:solidFill>
                <a:latin typeface="Arial MT"/>
                <a:cs typeface="Arial MT"/>
              </a:rPr>
              <a:t>global</a:t>
            </a:r>
            <a:r>
              <a:rPr dirty="0" sz="3450" spc="60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140">
                <a:solidFill>
                  <a:srgbClr val="2E4057"/>
                </a:solidFill>
                <a:latin typeface="Arial MT"/>
                <a:cs typeface="Arial MT"/>
              </a:rPr>
              <a:t>payment</a:t>
            </a:r>
            <a:r>
              <a:rPr dirty="0" sz="3450" spc="55">
                <a:solidFill>
                  <a:srgbClr val="2E4057"/>
                </a:solidFill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2E4057"/>
                </a:solidFill>
                <a:latin typeface="Arial MT"/>
                <a:cs typeface="Arial MT"/>
              </a:rPr>
              <a:t>processes.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99" y="2700125"/>
            <a:ext cx="8077199" cy="24479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838" y="6221995"/>
            <a:ext cx="7362824" cy="10286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57005" y="5482859"/>
            <a:ext cx="10229850" cy="7429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18701" y="6914040"/>
            <a:ext cx="7991474" cy="23431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7077" y="376022"/>
            <a:ext cx="14104619" cy="8750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550">
                <a:solidFill>
                  <a:srgbClr val="2E4057"/>
                </a:solidFill>
              </a:rPr>
              <a:t>Project</a:t>
            </a:r>
            <a:r>
              <a:rPr dirty="0" sz="5550" spc="-20">
                <a:solidFill>
                  <a:srgbClr val="2E4057"/>
                </a:solidFill>
              </a:rPr>
              <a:t> </a:t>
            </a:r>
            <a:r>
              <a:rPr dirty="0" sz="5550">
                <a:solidFill>
                  <a:srgbClr val="2E4057"/>
                </a:solidFill>
              </a:rPr>
              <a:t>Modules</a:t>
            </a:r>
            <a:r>
              <a:rPr dirty="0" sz="5550" spc="-20">
                <a:solidFill>
                  <a:srgbClr val="2E4057"/>
                </a:solidFill>
              </a:rPr>
              <a:t> </a:t>
            </a:r>
            <a:r>
              <a:rPr dirty="0" sz="5550">
                <a:solidFill>
                  <a:srgbClr val="2E4057"/>
                </a:solidFill>
              </a:rPr>
              <a:t>and</a:t>
            </a:r>
            <a:r>
              <a:rPr dirty="0" sz="5550" spc="-20">
                <a:solidFill>
                  <a:srgbClr val="2E4057"/>
                </a:solidFill>
              </a:rPr>
              <a:t> </a:t>
            </a:r>
            <a:r>
              <a:rPr dirty="0" sz="5550">
                <a:solidFill>
                  <a:srgbClr val="2E4057"/>
                </a:solidFill>
              </a:rPr>
              <a:t>Course</a:t>
            </a:r>
            <a:r>
              <a:rPr dirty="0" sz="5550" spc="-15">
                <a:solidFill>
                  <a:srgbClr val="2E4057"/>
                </a:solidFill>
              </a:rPr>
              <a:t> </a:t>
            </a:r>
            <a:r>
              <a:rPr dirty="0" sz="5550" spc="-10">
                <a:solidFill>
                  <a:srgbClr val="2E4057"/>
                </a:solidFill>
              </a:rPr>
              <a:t>Outcomes</a:t>
            </a:r>
            <a:endParaRPr sz="5550"/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0"/>
              <a:t>CO-</a:t>
            </a:r>
            <a:r>
              <a:rPr dirty="0" spc="585"/>
              <a:t>1</a:t>
            </a:r>
            <a:r>
              <a:rPr dirty="0" spc="-10"/>
              <a:t> </a:t>
            </a:r>
            <a:r>
              <a:rPr dirty="0"/>
              <a:t>:</a:t>
            </a:r>
            <a:r>
              <a:rPr dirty="0" spc="-10"/>
              <a:t> </a:t>
            </a:r>
            <a:r>
              <a:rPr dirty="0"/>
              <a:t>Searching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 spc="-10"/>
              <a:t>Sorting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875"/>
              </a:spcBef>
            </a:pPr>
          </a:p>
          <a:p>
            <a:pPr algn="r" marR="5080">
              <a:lnSpc>
                <a:spcPct val="100000"/>
              </a:lnSpc>
            </a:pPr>
            <a:r>
              <a:rPr dirty="0" sz="4650" spc="-10"/>
              <a:t>CO-</a:t>
            </a:r>
            <a:r>
              <a:rPr dirty="0" sz="4650"/>
              <a:t>2</a:t>
            </a:r>
            <a:r>
              <a:rPr dirty="0" sz="4650" spc="5"/>
              <a:t> </a:t>
            </a:r>
            <a:r>
              <a:rPr dirty="0" sz="4650"/>
              <a:t>:</a:t>
            </a:r>
            <a:r>
              <a:rPr dirty="0" sz="4650" spc="5"/>
              <a:t> </a:t>
            </a:r>
            <a:r>
              <a:rPr dirty="0" sz="4650"/>
              <a:t>Linked</a:t>
            </a:r>
            <a:r>
              <a:rPr dirty="0" sz="4650" spc="5"/>
              <a:t> </a:t>
            </a:r>
            <a:r>
              <a:rPr dirty="0" sz="4650" spc="-10"/>
              <a:t>Lists</a:t>
            </a:r>
            <a:endParaRPr sz="46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505" y="3592917"/>
            <a:ext cx="8934449" cy="216217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6406" y="1491168"/>
            <a:ext cx="8601074" cy="10667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0215" y="2269544"/>
            <a:ext cx="7572374" cy="13239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84879" y="5143500"/>
            <a:ext cx="6372224" cy="24383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2505" y="7074737"/>
            <a:ext cx="9620249" cy="18097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7033" rIns="0" bIns="0" rtlCol="0" vert="horz">
            <a:spAutoFit/>
          </a:bodyPr>
          <a:lstStyle/>
          <a:p>
            <a:pPr marL="1137920">
              <a:lnSpc>
                <a:spcPct val="100000"/>
              </a:lnSpc>
              <a:spcBef>
                <a:spcPts val="95"/>
              </a:spcBef>
            </a:pPr>
            <a:r>
              <a:rPr dirty="0" sz="3750" spc="-20" b="0">
                <a:latin typeface="Georgia"/>
                <a:cs typeface="Georgia"/>
              </a:rPr>
              <a:t>CO-</a:t>
            </a:r>
            <a:r>
              <a:rPr dirty="0" sz="3750" b="0">
                <a:latin typeface="Georgia"/>
                <a:cs typeface="Georgia"/>
              </a:rPr>
              <a:t>3:</a:t>
            </a:r>
            <a:r>
              <a:rPr dirty="0" sz="3750" spc="-25" b="0">
                <a:latin typeface="Georgia"/>
                <a:cs typeface="Georgia"/>
              </a:rPr>
              <a:t> </a:t>
            </a:r>
            <a:r>
              <a:rPr dirty="0" sz="3750" b="0">
                <a:latin typeface="Georgia"/>
                <a:cs typeface="Georgia"/>
              </a:rPr>
              <a:t>Stacks</a:t>
            </a:r>
            <a:r>
              <a:rPr dirty="0" sz="3750" spc="-25" b="0">
                <a:latin typeface="Georgia"/>
                <a:cs typeface="Georgia"/>
              </a:rPr>
              <a:t> </a:t>
            </a:r>
            <a:r>
              <a:rPr dirty="0" sz="3750" b="0">
                <a:latin typeface="Georgia"/>
                <a:cs typeface="Georgia"/>
              </a:rPr>
              <a:t>and</a:t>
            </a:r>
            <a:r>
              <a:rPr dirty="0" sz="3750" spc="-25" b="0">
                <a:latin typeface="Georgia"/>
                <a:cs typeface="Georgia"/>
              </a:rPr>
              <a:t> </a:t>
            </a:r>
            <a:r>
              <a:rPr dirty="0" sz="3750" spc="-10" b="0">
                <a:latin typeface="Georgia"/>
                <a:cs typeface="Georgia"/>
              </a:rPr>
              <a:t>Queues</a:t>
            </a:r>
            <a:endParaRPr sz="37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3107922"/>
            <a:ext cx="13963649" cy="9334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278774"/>
            <a:ext cx="10658474" cy="10096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7527208"/>
            <a:ext cx="8277224" cy="10382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1946" rIns="0" bIns="0" rtlCol="0" vert="horz">
            <a:spAutoFit/>
          </a:bodyPr>
          <a:lstStyle/>
          <a:p>
            <a:pPr marL="725805">
              <a:lnSpc>
                <a:spcPct val="100000"/>
              </a:lnSpc>
              <a:spcBef>
                <a:spcPts val="95"/>
              </a:spcBef>
            </a:pPr>
            <a:r>
              <a:rPr dirty="0" sz="4450" spc="-35" b="0">
                <a:latin typeface="Georgia"/>
                <a:cs typeface="Georgia"/>
              </a:rPr>
              <a:t>CO-</a:t>
            </a:r>
            <a:r>
              <a:rPr dirty="0" sz="4450" b="0">
                <a:latin typeface="Georgia"/>
                <a:cs typeface="Georgia"/>
              </a:rPr>
              <a:t>4:</a:t>
            </a:r>
            <a:r>
              <a:rPr dirty="0" sz="4450" spc="-10" b="0">
                <a:latin typeface="Georgia"/>
                <a:cs typeface="Georgia"/>
              </a:rPr>
              <a:t> Hashing</a:t>
            </a:r>
            <a:endParaRPr sz="44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892" y="1205681"/>
            <a:ext cx="13877924" cy="88106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6580">
              <a:lnSpc>
                <a:spcPct val="100000"/>
              </a:lnSpc>
              <a:spcBef>
                <a:spcPts val="95"/>
              </a:spcBef>
            </a:pPr>
            <a:r>
              <a:rPr dirty="0" sz="5650" b="0">
                <a:latin typeface="Georgia"/>
                <a:cs typeface="Georgia"/>
              </a:rPr>
              <a:t>Project</a:t>
            </a:r>
            <a:r>
              <a:rPr dirty="0" sz="5650" spc="-120" b="0">
                <a:latin typeface="Georgia"/>
                <a:cs typeface="Georgia"/>
              </a:rPr>
              <a:t> </a:t>
            </a:r>
            <a:r>
              <a:rPr dirty="0" sz="5650" spc="-10" b="0">
                <a:latin typeface="Georgia"/>
                <a:cs typeface="Georgia"/>
              </a:rPr>
              <a:t>ScreenShots</a:t>
            </a:r>
            <a:endParaRPr sz="56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196359"/>
            <a:ext cx="8277224" cy="27622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202150"/>
            <a:ext cx="8467724" cy="27050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33644" y="3113666"/>
            <a:ext cx="7534274" cy="34385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452" y="705053"/>
            <a:ext cx="7448549" cy="29051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3160" y="1680711"/>
            <a:ext cx="7734299" cy="38576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3" y="5536929"/>
            <a:ext cx="7591424" cy="28955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0" y="7772456"/>
            <a:ext cx="6457949" cy="17811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653" y="334040"/>
            <a:ext cx="3385820" cy="680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2E4057"/>
                </a:solidFill>
              </a:rPr>
              <a:t>Conclusion: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33397" y="1129268"/>
            <a:ext cx="16918305" cy="73894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1915" marR="810260" indent="-69850">
              <a:lnSpc>
                <a:spcPct val="117300"/>
              </a:lnSpc>
              <a:spcBef>
                <a:spcPts val="90"/>
              </a:spcBef>
              <a:buChar char="•"/>
              <a:tabLst>
                <a:tab pos="81915" algn="l"/>
                <a:tab pos="339725" algn="l"/>
              </a:tabLst>
            </a:pP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	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The</a:t>
            </a:r>
            <a:r>
              <a:rPr dirty="0" sz="4050" spc="-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Global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Payment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Transactions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Tracking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Dashboard</a:t>
            </a:r>
            <a:r>
              <a:rPr dirty="0" sz="4050" spc="-1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improves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visibility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transparency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in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complex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cross-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border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payment</a:t>
            </a:r>
            <a:r>
              <a:rPr dirty="0" sz="4050" spc="-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systems.</a:t>
            </a:r>
            <a:endParaRPr sz="4050">
              <a:latin typeface="Georgia"/>
              <a:cs typeface="Georgia"/>
            </a:endParaRPr>
          </a:p>
          <a:p>
            <a:pPr lvl="1" marL="396875" marR="871219" indent="-324485">
              <a:lnSpc>
                <a:spcPct val="115100"/>
              </a:lnSpc>
              <a:spcBef>
                <a:spcPts val="4295"/>
              </a:spcBef>
              <a:buChar char="•"/>
              <a:tabLst>
                <a:tab pos="3211830" algn="l"/>
              </a:tabLst>
            </a:pP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It</a:t>
            </a:r>
            <a:r>
              <a:rPr dirty="0" sz="405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enables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30">
                <a:solidFill>
                  <a:srgbClr val="2E4057"/>
                </a:solidFill>
                <a:latin typeface="Georgia"/>
                <a:cs typeface="Georgia"/>
              </a:rPr>
              <a:t>real-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time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monitoring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of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transactions,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helping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users</a:t>
            </a:r>
            <a:r>
              <a:rPr dirty="0" sz="4050" spc="-114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quickly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	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identify</a:t>
            </a:r>
            <a:r>
              <a:rPr dirty="0" sz="405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delays,</a:t>
            </a:r>
            <a:r>
              <a:rPr dirty="0" sz="405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failures,</a:t>
            </a:r>
            <a:r>
              <a:rPr dirty="0" sz="405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405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>
                <a:solidFill>
                  <a:srgbClr val="2E4057"/>
                </a:solidFill>
                <a:latin typeface="Georgia"/>
                <a:cs typeface="Georgia"/>
              </a:rPr>
              <a:t>system</a:t>
            </a:r>
            <a:r>
              <a:rPr dirty="0" sz="405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4050" spc="-10">
                <a:solidFill>
                  <a:srgbClr val="2E4057"/>
                </a:solidFill>
                <a:latin typeface="Georgia"/>
                <a:cs typeface="Georgia"/>
              </a:rPr>
              <a:t>issues.</a:t>
            </a:r>
            <a:endParaRPr sz="4050">
              <a:latin typeface="Georgia"/>
              <a:cs typeface="Georgia"/>
            </a:endParaRPr>
          </a:p>
          <a:p>
            <a:pPr lvl="2" marL="478155" marR="483234" indent="-313690">
              <a:lnSpc>
                <a:spcPct val="116300"/>
              </a:lnSpc>
              <a:spcBef>
                <a:spcPts val="2580"/>
              </a:spcBef>
              <a:buChar char="•"/>
              <a:tabLst>
                <a:tab pos="3613150" algn="l"/>
              </a:tabLst>
            </a:pP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Features</a:t>
            </a:r>
            <a:r>
              <a:rPr dirty="0" sz="3900" spc="-6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such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as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analytics,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fraud</a:t>
            </a:r>
            <a:r>
              <a:rPr dirty="0" sz="3900" spc="-6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alerts,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reconciliation,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system</a:t>
            </a:r>
            <a:r>
              <a:rPr dirty="0" sz="3900" spc="-6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 spc="-10">
                <a:solidFill>
                  <a:srgbClr val="2E4057"/>
                </a:solidFill>
                <a:latin typeface="Georgia"/>
                <a:cs typeface="Georgia"/>
              </a:rPr>
              <a:t>health </a:t>
            </a:r>
            <a:r>
              <a:rPr dirty="0" sz="3900" spc="-10">
                <a:solidFill>
                  <a:srgbClr val="2E4057"/>
                </a:solidFill>
                <a:latin typeface="Georgia"/>
                <a:cs typeface="Georgia"/>
              </a:rPr>
              <a:t>	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monitoring</a:t>
            </a:r>
            <a:r>
              <a:rPr dirty="0" sz="3900" spc="-8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enhance</a:t>
            </a:r>
            <a:r>
              <a:rPr dirty="0" sz="3900" spc="-8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>
                <a:solidFill>
                  <a:srgbClr val="2E4057"/>
                </a:solidFill>
                <a:latin typeface="Georgia"/>
                <a:cs typeface="Georgia"/>
              </a:rPr>
              <a:t>operational</a:t>
            </a:r>
            <a:r>
              <a:rPr dirty="0" sz="3900" spc="-8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900" spc="-10">
                <a:solidFill>
                  <a:srgbClr val="2E4057"/>
                </a:solidFill>
                <a:latin typeface="Georgia"/>
                <a:cs typeface="Georgia"/>
              </a:rPr>
              <a:t>efficiency.</a:t>
            </a:r>
            <a:endParaRPr sz="3900">
              <a:latin typeface="Georgia"/>
              <a:cs typeface="Georgia"/>
            </a:endParaRPr>
          </a:p>
          <a:p>
            <a:pPr lvl="2">
              <a:lnSpc>
                <a:spcPct val="100000"/>
              </a:lnSpc>
              <a:spcBef>
                <a:spcPts val="2970"/>
              </a:spcBef>
              <a:buFont typeface="Georgia"/>
              <a:buChar char="•"/>
            </a:pPr>
            <a:endParaRPr sz="3900">
              <a:latin typeface="Georgia"/>
              <a:cs typeface="Georgia"/>
            </a:endParaRPr>
          </a:p>
          <a:p>
            <a:pPr lvl="2" marL="452755" marR="5080" indent="-295910">
              <a:lnSpc>
                <a:spcPct val="115300"/>
              </a:lnSpc>
              <a:spcBef>
                <a:spcPts val="5"/>
              </a:spcBef>
              <a:buChar char="•"/>
              <a:tabLst>
                <a:tab pos="3209925" algn="l"/>
              </a:tabLst>
            </a:pP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Overall,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the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platform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simplifies</a:t>
            </a:r>
            <a:r>
              <a:rPr dirty="0" sz="370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global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payment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tracking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3700" spc="-12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helps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build</a:t>
            </a:r>
            <a:r>
              <a:rPr dirty="0" sz="3700" spc="-12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 spc="-10">
                <a:solidFill>
                  <a:srgbClr val="2E4057"/>
                </a:solidFill>
                <a:latin typeface="Georgia"/>
                <a:cs typeface="Georgia"/>
              </a:rPr>
              <a:t>greater </a:t>
            </a:r>
            <a:r>
              <a:rPr dirty="0" sz="3700" spc="-10">
                <a:solidFill>
                  <a:srgbClr val="2E4057"/>
                </a:solidFill>
                <a:latin typeface="Georgia"/>
                <a:cs typeface="Georgia"/>
              </a:rPr>
              <a:t>	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reliability</a:t>
            </a:r>
            <a:r>
              <a:rPr dirty="0" sz="3700" spc="-110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and</a:t>
            </a:r>
            <a:r>
              <a:rPr dirty="0" sz="3700" spc="-10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trust</a:t>
            </a:r>
            <a:r>
              <a:rPr dirty="0" sz="3700" spc="-10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in</a:t>
            </a:r>
            <a:r>
              <a:rPr dirty="0" sz="3700" spc="-10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digital</a:t>
            </a:r>
            <a:r>
              <a:rPr dirty="0" sz="3700" spc="-10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>
                <a:solidFill>
                  <a:srgbClr val="2E4057"/>
                </a:solidFill>
                <a:latin typeface="Georgia"/>
                <a:cs typeface="Georgia"/>
              </a:rPr>
              <a:t>financial</a:t>
            </a:r>
            <a:r>
              <a:rPr dirty="0" sz="3700" spc="-105">
                <a:solidFill>
                  <a:srgbClr val="2E4057"/>
                </a:solidFill>
                <a:latin typeface="Georgia"/>
                <a:cs typeface="Georgia"/>
              </a:rPr>
              <a:t> </a:t>
            </a:r>
            <a:r>
              <a:rPr dirty="0" sz="3700" spc="-10">
                <a:solidFill>
                  <a:srgbClr val="2E4057"/>
                </a:solidFill>
                <a:latin typeface="Georgia"/>
                <a:cs typeface="Georgia"/>
              </a:rPr>
              <a:t>transactions.</a:t>
            </a:r>
            <a:endParaRPr sz="37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3770" y="1640286"/>
            <a:ext cx="6191249" cy="80200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1091" y="1987786"/>
            <a:ext cx="8829674" cy="66198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4851" rIns="0" bIns="0" rtlCol="0" vert="horz">
            <a:spAutoFit/>
          </a:bodyPr>
          <a:lstStyle/>
          <a:p>
            <a:pPr marL="290195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Geo-</a:t>
            </a:r>
            <a:r>
              <a:rPr dirty="0"/>
              <a:t>tagged</a:t>
            </a:r>
            <a:r>
              <a:rPr dirty="0" spc="-40"/>
              <a:t> </a:t>
            </a:r>
            <a:r>
              <a:rPr dirty="0" spc="-10"/>
              <a:t>pictures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297" y="1028700"/>
            <a:ext cx="6772274" cy="81343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6797" y="1787466"/>
            <a:ext cx="8829674" cy="66198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947" y="330933"/>
            <a:ext cx="8458199" cy="569744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9922" y="4455260"/>
            <a:ext cx="9182099" cy="5619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Sharon Rhoda</dc:creator>
  <cp:keywords>DAHDX4Awj_E,BAG7UfTn2Dw,0</cp:keywords>
  <dc:title>DSA-Presentation</dc:title>
  <dcterms:created xsi:type="dcterms:W3CDTF">2026-03-11T14:23:00Z</dcterms:created>
  <dcterms:modified xsi:type="dcterms:W3CDTF">2026-03-11T14:23:00Z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Creator">
    <vt:lpwstr>Canva</vt:lpwstr>
  </property>
  <property fmtid="{D5CDD505-2E9C-101B-9397-08002B2CF9AE}" pid="4" name="LastSaved">
    <vt:filetime>2026-03-11T00:00:00Z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